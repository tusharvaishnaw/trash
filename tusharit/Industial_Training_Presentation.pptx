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92" r:id="rId2"/>
    <p:sldId id="291" r:id="rId3"/>
    <p:sldId id="315" r:id="rId4"/>
    <p:sldId id="316" r:id="rId5"/>
    <p:sldId id="343" r:id="rId6"/>
    <p:sldId id="344" r:id="rId7"/>
    <p:sldId id="355" r:id="rId8"/>
    <p:sldId id="356" r:id="rId9"/>
    <p:sldId id="362" r:id="rId10"/>
    <p:sldId id="363" r:id="rId11"/>
    <p:sldId id="346" r:id="rId12"/>
    <p:sldId id="364" r:id="rId13"/>
    <p:sldId id="365" r:id="rId14"/>
    <p:sldId id="351" r:id="rId15"/>
    <p:sldId id="347" r:id="rId16"/>
    <p:sldId id="358" r:id="rId17"/>
    <p:sldId id="361" r:id="rId18"/>
    <p:sldId id="359" r:id="rId19"/>
    <p:sldId id="348" r:id="rId20"/>
    <p:sldId id="349" r:id="rId21"/>
    <p:sldId id="341" r:id="rId22"/>
  </p:sldIdLst>
  <p:sldSz cx="10080625" cy="7559675"/>
  <p:notesSz cx="7772400" cy="1002506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5A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13" autoAdjust="0"/>
    <p:restoredTop sz="90929"/>
  </p:normalViewPr>
  <p:slideViewPr>
    <p:cSldViewPr>
      <p:cViewPr>
        <p:scale>
          <a:sx n="75" d="100"/>
          <a:sy n="75" d="100"/>
        </p:scale>
        <p:origin x="1195" y="-274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402138" y="0"/>
            <a:ext cx="3368675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5B0B3-166E-4B00-A93A-02396BF50277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521825"/>
            <a:ext cx="3368675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402138" y="9521825"/>
            <a:ext cx="3368675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6ED77-972E-49B8-AD19-70195E7335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542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597025" y="1004888"/>
            <a:ext cx="4576763" cy="343217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</p:sp>
      <p:sp>
        <p:nvSpPr>
          <p:cNvPr id="205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185863" y="4772025"/>
            <a:ext cx="5405437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56148018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12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5125" name="Header Placeholder 4"/>
          <p:cNvSpPr>
            <a:spLocks noGrp="1"/>
          </p:cNvSpPr>
          <p:nvPr>
            <p:ph type="hdr" sz="quarter" idx="4294967295"/>
          </p:nvPr>
        </p:nvSpPr>
        <p:spPr bwMode="auto">
          <a:xfrm>
            <a:off x="0" y="0"/>
            <a:ext cx="3368675" cy="5016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101700" tIns="50850" rIns="101700" bIns="50850"/>
          <a:lstStyle/>
          <a:p>
            <a:endParaRPr lang="en-IN"/>
          </a:p>
        </p:txBody>
      </p:sp>
      <p:sp>
        <p:nvSpPr>
          <p:cNvPr id="5126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0" y="9521825"/>
            <a:ext cx="3368675" cy="5016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101700" tIns="50850" rIns="101700" bIns="50850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7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81377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81282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77655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20068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96635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95762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46172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D22F7-2385-CE62-5986-EECB755A9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FCBEA-DAD4-8FFE-4A64-41053D44CA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9E5CDD-CB4A-D1BC-3F7F-6CA944B8C6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04169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438A5-6E1F-4415-328C-1B149EF2D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338348-FBE6-6112-A8DB-4ADEEF7537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5F0C7F-5B38-4078-706E-715FE13C60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18603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17928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07991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17402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97281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83007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60459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6656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825" y="1763713"/>
            <a:ext cx="9072563" cy="49895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4825" y="1763713"/>
            <a:ext cx="4459288" cy="49895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6513" y="1763713"/>
            <a:ext cx="4460875" cy="49895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4825" y="1763713"/>
            <a:ext cx="9072563" cy="49895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10438" y="303213"/>
            <a:ext cx="2266950" cy="6450012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4825" y="303213"/>
            <a:ext cx="6653213" cy="64500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70000"/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45000"/>
        <a:buFont typeface="StarBats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45000"/>
        <a:buFont typeface="StarBats" charset="0"/>
        <a:defRPr sz="4400">
          <a:solidFill>
            <a:srgbClr val="000000"/>
          </a:solidFill>
          <a:latin typeface="Times" pitchFamily="18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45000"/>
        <a:buFont typeface="StarBats" charset="0"/>
        <a:defRPr sz="4400">
          <a:solidFill>
            <a:srgbClr val="000000"/>
          </a:solidFill>
          <a:latin typeface="Times" pitchFamily="18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45000"/>
        <a:buFont typeface="StarBats" charset="0"/>
        <a:defRPr sz="4400">
          <a:solidFill>
            <a:srgbClr val="000000"/>
          </a:solidFill>
          <a:latin typeface="Times" pitchFamily="18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45000"/>
        <a:buFont typeface="StarBats" charset="0"/>
        <a:defRPr sz="4400">
          <a:solidFill>
            <a:srgbClr val="000000"/>
          </a:solidFill>
          <a:latin typeface="Times" pitchFamily="18" charset="0"/>
        </a:defRPr>
      </a:lvl5pPr>
      <a:lvl6pPr marL="1897063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45000"/>
        <a:buFont typeface="StarBats" charset="0"/>
        <a:defRPr sz="4400">
          <a:solidFill>
            <a:srgbClr val="000000"/>
          </a:solidFill>
          <a:latin typeface="Times New Roman" pitchFamily="18" charset="0"/>
        </a:defRPr>
      </a:lvl6pPr>
      <a:lvl7pPr marL="2354263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45000"/>
        <a:buFont typeface="StarBats" charset="0"/>
        <a:defRPr sz="4400">
          <a:solidFill>
            <a:srgbClr val="000000"/>
          </a:solidFill>
          <a:latin typeface="Times New Roman" pitchFamily="18" charset="0"/>
        </a:defRPr>
      </a:lvl7pPr>
      <a:lvl8pPr marL="2811463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45000"/>
        <a:buFont typeface="StarBats" charset="0"/>
        <a:defRPr sz="4400">
          <a:solidFill>
            <a:srgbClr val="000000"/>
          </a:solidFill>
          <a:latin typeface="Times New Roman" pitchFamily="18" charset="0"/>
        </a:defRPr>
      </a:lvl8pPr>
      <a:lvl9pPr marL="3268663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45000"/>
        <a:buFont typeface="StarBats" charset="0"/>
        <a:defRPr sz="4400">
          <a:solidFill>
            <a:srgbClr val="000000"/>
          </a:solidFill>
          <a:latin typeface="Times New Roman" pitchFamily="18" charset="0"/>
        </a:defRPr>
      </a:lvl9pPr>
    </p:titleStyle>
    <p:bodyStyle>
      <a:lvl1pPr marL="431800" indent="-323850" algn="l" defTabSz="457200" rtl="0" eaLnBrk="0" fontAlgn="base" hangingPunct="0">
        <a:spcBef>
          <a:spcPct val="0"/>
        </a:spcBef>
        <a:spcAft>
          <a:spcPts val="1413"/>
        </a:spcAft>
        <a:buClr>
          <a:srgbClr val="000000"/>
        </a:buClr>
        <a:buSzPct val="45000"/>
        <a:buFont typeface="StarBats" charset="0"/>
        <a:buChar char="&quot;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863600" indent="-287338" algn="l" defTabSz="457200" rtl="0" eaLnBrk="0" fontAlgn="base" hangingPunct="0">
        <a:spcBef>
          <a:spcPct val="0"/>
        </a:spcBef>
        <a:spcAft>
          <a:spcPts val="1125"/>
        </a:spcAft>
        <a:buClr>
          <a:srgbClr val="000000"/>
        </a:buClr>
        <a:buSzPct val="75000"/>
        <a:buFont typeface="StarBats" charset="0"/>
        <a:buChar char=""/>
        <a:defRPr sz="2800">
          <a:solidFill>
            <a:srgbClr val="000000"/>
          </a:solidFill>
          <a:latin typeface="+mn-lt"/>
        </a:defRPr>
      </a:lvl2pPr>
      <a:lvl3pPr marL="1295400" indent="-215900" algn="l" defTabSz="457200" rtl="0" eaLnBrk="0" fontAlgn="base" hangingPunct="0">
        <a:spcBef>
          <a:spcPct val="0"/>
        </a:spcBef>
        <a:spcAft>
          <a:spcPts val="850"/>
        </a:spcAft>
        <a:buClr>
          <a:srgbClr val="000000"/>
        </a:buClr>
        <a:buSzPct val="45000"/>
        <a:buFont typeface="StarBats" charset="0"/>
        <a:buChar char="&quot;"/>
        <a:defRPr sz="2400">
          <a:solidFill>
            <a:srgbClr val="000000"/>
          </a:solidFill>
          <a:latin typeface="+mn-lt"/>
        </a:defRPr>
      </a:lvl3pPr>
      <a:lvl4pPr marL="1727200" indent="-215900" algn="l" defTabSz="457200" rtl="0" eaLnBrk="0" fontAlgn="base" hangingPunct="0">
        <a:spcBef>
          <a:spcPct val="0"/>
        </a:spcBef>
        <a:spcAft>
          <a:spcPts val="563"/>
        </a:spcAft>
        <a:buClr>
          <a:srgbClr val="000000"/>
        </a:buClr>
        <a:buSzPct val="75000"/>
        <a:buFont typeface="StarBats" charset="0"/>
        <a:buChar char=""/>
        <a:defRPr sz="2000">
          <a:solidFill>
            <a:srgbClr val="000000"/>
          </a:solidFill>
          <a:latin typeface="+mn-lt"/>
        </a:defRPr>
      </a:lvl4pPr>
      <a:lvl5pPr marL="2159000" indent="-215900" algn="l" defTabSz="457200" rtl="0" eaLnBrk="0" fontAlgn="base" hangingPunct="0">
        <a:spcBef>
          <a:spcPct val="0"/>
        </a:spcBef>
        <a:spcAft>
          <a:spcPts val="275"/>
        </a:spcAft>
        <a:buClr>
          <a:srgbClr val="000000"/>
        </a:buClr>
        <a:buSzPct val="45000"/>
        <a:buFont typeface="StarBats" charset="0"/>
        <a:buChar char="&quot;"/>
        <a:defRPr sz="2000">
          <a:solidFill>
            <a:srgbClr val="000000"/>
          </a:solidFill>
          <a:latin typeface="+mn-lt"/>
        </a:defRPr>
      </a:lvl5pPr>
      <a:lvl6pPr marL="2616200" indent="-215900" algn="l" defTabSz="457200" rtl="0" eaLnBrk="0" fontAlgn="base" hangingPunct="0">
        <a:spcBef>
          <a:spcPct val="0"/>
        </a:spcBef>
        <a:spcAft>
          <a:spcPts val="275"/>
        </a:spcAft>
        <a:buClr>
          <a:srgbClr val="000000"/>
        </a:buClr>
        <a:buSzPct val="45000"/>
        <a:buFont typeface="StarBats" charset="0"/>
        <a:buChar char="&quot;"/>
        <a:defRPr sz="2000">
          <a:solidFill>
            <a:srgbClr val="000000"/>
          </a:solidFill>
          <a:latin typeface="+mn-lt"/>
        </a:defRPr>
      </a:lvl6pPr>
      <a:lvl7pPr marL="3073400" indent="-215900" algn="l" defTabSz="457200" rtl="0" eaLnBrk="0" fontAlgn="base" hangingPunct="0">
        <a:spcBef>
          <a:spcPct val="0"/>
        </a:spcBef>
        <a:spcAft>
          <a:spcPts val="275"/>
        </a:spcAft>
        <a:buClr>
          <a:srgbClr val="000000"/>
        </a:buClr>
        <a:buSzPct val="45000"/>
        <a:buFont typeface="StarBats" charset="0"/>
        <a:buChar char="&quot;"/>
        <a:defRPr sz="2000">
          <a:solidFill>
            <a:srgbClr val="000000"/>
          </a:solidFill>
          <a:latin typeface="+mn-lt"/>
        </a:defRPr>
      </a:lvl7pPr>
      <a:lvl8pPr marL="3530600" indent="-215900" algn="l" defTabSz="457200" rtl="0" eaLnBrk="0" fontAlgn="base" hangingPunct="0">
        <a:spcBef>
          <a:spcPct val="0"/>
        </a:spcBef>
        <a:spcAft>
          <a:spcPts val="275"/>
        </a:spcAft>
        <a:buClr>
          <a:srgbClr val="000000"/>
        </a:buClr>
        <a:buSzPct val="45000"/>
        <a:buFont typeface="StarBats" charset="0"/>
        <a:buChar char="&quot;"/>
        <a:defRPr sz="2000">
          <a:solidFill>
            <a:srgbClr val="000000"/>
          </a:solidFill>
          <a:latin typeface="+mn-lt"/>
        </a:defRPr>
      </a:lvl8pPr>
      <a:lvl9pPr marL="3987800" indent="-215900" algn="l" defTabSz="457200" rtl="0" eaLnBrk="0" fontAlgn="base" hangingPunct="0">
        <a:spcBef>
          <a:spcPct val="0"/>
        </a:spcBef>
        <a:spcAft>
          <a:spcPts val="275"/>
        </a:spcAft>
        <a:buClr>
          <a:srgbClr val="000000"/>
        </a:buClr>
        <a:buSzPct val="45000"/>
        <a:buFont typeface="StarBats" charset="0"/>
        <a:buChar char="&quot;"/>
        <a:defRPr sz="2000"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7"/>
          <p:cNvSpPr>
            <a:spLocks noChangeArrowheads="1"/>
          </p:cNvSpPr>
          <p:nvPr/>
        </p:nvSpPr>
        <p:spPr bwMode="auto">
          <a:xfrm>
            <a:off x="4075057" y="5580037"/>
            <a:ext cx="4195896" cy="1512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0000"/>
              </a:lnSpc>
              <a:buClr>
                <a:srgbClr val="000000"/>
              </a:buClr>
              <a:buSzPct val="3800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</a:pPr>
            <a:r>
              <a:rPr lang="en-US" sz="1800" b="1" u="sng" dirty="0">
                <a:solidFill>
                  <a:srgbClr val="FF0000"/>
                </a:solidFill>
                <a:latin typeface="Helvetica" charset="0"/>
              </a:rPr>
              <a:t>Submitted To</a:t>
            </a:r>
            <a:r>
              <a:rPr lang="en-US" sz="2400" b="1" u="sng" dirty="0">
                <a:solidFill>
                  <a:srgbClr val="FF0000"/>
                </a:solidFill>
                <a:latin typeface="Helvetica" charset="0"/>
              </a:rPr>
              <a:t>:</a:t>
            </a:r>
          </a:p>
          <a:p>
            <a:pPr algn="ctr">
              <a:lnSpc>
                <a:spcPct val="150000"/>
              </a:lnSpc>
              <a:buClr>
                <a:srgbClr val="000000"/>
              </a:buClr>
              <a:buSzPct val="3800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</a:pPr>
            <a:r>
              <a:rPr lang="en-US" sz="2400" b="1" dirty="0">
                <a:solidFill>
                  <a:srgbClr val="FF0000"/>
                </a:solidFill>
              </a:rPr>
              <a:t>Mr. Piyush Gauta</a:t>
            </a:r>
            <a:r>
              <a:rPr lang="en-US" b="1" dirty="0">
                <a:solidFill>
                  <a:srgbClr val="FF0000"/>
                </a:solidFill>
              </a:rPr>
              <a:t>m</a:t>
            </a:r>
            <a:endParaRPr lang="en-US" sz="2400" b="1" dirty="0">
              <a:solidFill>
                <a:srgbClr val="FF0000"/>
              </a:solidFill>
            </a:endParaRPr>
          </a:p>
          <a:p>
            <a:pPr algn="ctr">
              <a:lnSpc>
                <a:spcPct val="150000"/>
              </a:lnSpc>
              <a:buClr>
                <a:srgbClr val="000000"/>
              </a:buClr>
              <a:buSzPct val="3800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</a:pPr>
            <a:r>
              <a:rPr lang="en-US" sz="2000" b="1" dirty="0">
                <a:solidFill>
                  <a:srgbClr val="FF0000"/>
                </a:solidFill>
                <a:latin typeface="Helvetica" charset="0"/>
              </a:rPr>
              <a:t>Industrial Training Coordinator, IT</a:t>
            </a:r>
          </a:p>
        </p:txBody>
      </p:sp>
      <p:sp>
        <p:nvSpPr>
          <p:cNvPr id="1029" name="TextBox 10"/>
          <p:cNvSpPr txBox="1">
            <a:spLocks noChangeArrowheads="1"/>
          </p:cNvSpPr>
          <p:nvPr/>
        </p:nvSpPr>
        <p:spPr bwMode="auto">
          <a:xfrm>
            <a:off x="3527437" y="3203773"/>
            <a:ext cx="5291137" cy="2156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794" tIns="50397" rIns="100794" bIns="50397">
            <a:spAutoFit/>
          </a:bodyPr>
          <a:lstStyle/>
          <a:p>
            <a:pPr algn="ctr">
              <a:lnSpc>
                <a:spcPct val="150000"/>
              </a:lnSpc>
              <a:buClr>
                <a:srgbClr val="000000"/>
              </a:buClr>
              <a:buSzPct val="3800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</a:pPr>
            <a:r>
              <a:rPr lang="en-US" sz="2000" b="1" u="sng" dirty="0">
                <a:latin typeface="Helvetica" charset="0"/>
              </a:rPr>
              <a:t>Presented By:</a:t>
            </a:r>
          </a:p>
          <a:p>
            <a:pPr algn="ctr">
              <a:lnSpc>
                <a:spcPct val="150000"/>
              </a:lnSpc>
              <a:buClr>
                <a:srgbClr val="000000"/>
              </a:buClr>
              <a:buSzPct val="3800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</a:pPr>
            <a:r>
              <a:rPr lang="en-US" b="1" dirty="0">
                <a:latin typeface="Helvetica" charset="0"/>
              </a:rPr>
              <a:t>Dev Kataria</a:t>
            </a:r>
          </a:p>
          <a:p>
            <a:pPr algn="ctr">
              <a:lnSpc>
                <a:spcPct val="150000"/>
              </a:lnSpc>
              <a:buClr>
                <a:srgbClr val="000000"/>
              </a:buClr>
              <a:buSzPct val="3800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</a:pPr>
            <a:r>
              <a:rPr lang="en-US" b="1" dirty="0">
                <a:latin typeface="Helvetica" charset="0"/>
              </a:rPr>
              <a:t>22EJCIT301</a:t>
            </a:r>
          </a:p>
          <a:p>
            <a:pPr algn="ctr">
              <a:lnSpc>
                <a:spcPct val="150000"/>
              </a:lnSpc>
              <a:buClr>
                <a:srgbClr val="000000"/>
              </a:buClr>
              <a:buSzPct val="3800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</a:pPr>
            <a:r>
              <a:rPr lang="en-US" b="1" dirty="0">
                <a:latin typeface="Helvetica" charset="0"/>
              </a:rPr>
              <a:t>Information Technology/4</a:t>
            </a:r>
            <a:r>
              <a:rPr lang="en-US" b="1" baseline="30000" dirty="0">
                <a:latin typeface="Helvetica" charset="0"/>
              </a:rPr>
              <a:t>th</a:t>
            </a:r>
            <a:r>
              <a:rPr lang="en-US" b="1" dirty="0">
                <a:latin typeface="Helvetica" charset="0"/>
              </a:rPr>
              <a:t> year/C</a:t>
            </a:r>
          </a:p>
        </p:txBody>
      </p:sp>
      <p:sp>
        <p:nvSpPr>
          <p:cNvPr id="1030" name="Text Box 1"/>
          <p:cNvSpPr txBox="1">
            <a:spLocks noChangeArrowheads="1"/>
          </p:cNvSpPr>
          <p:nvPr/>
        </p:nvSpPr>
        <p:spPr bwMode="auto">
          <a:xfrm>
            <a:off x="3197737" y="1331565"/>
            <a:ext cx="5950540" cy="2215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Clr>
                <a:srgbClr val="000000"/>
              </a:buClr>
              <a:buSzPct val="38000"/>
              <a:buFont typeface="StarBats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</a:pPr>
            <a:r>
              <a:rPr lang="en-GB" sz="3600" b="1" dirty="0">
                <a:solidFill>
                  <a:srgbClr val="FF0000"/>
                </a:solidFill>
                <a:latin typeface="Helvetica" charset="0"/>
              </a:rPr>
              <a:t>Industrial Training Seminar</a:t>
            </a:r>
          </a:p>
          <a:p>
            <a:pPr algn="ctr">
              <a:buClr>
                <a:srgbClr val="000000"/>
              </a:buClr>
              <a:buSzPct val="38000"/>
              <a:buFont typeface="StarBats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</a:pPr>
            <a:r>
              <a:rPr lang="en-GB" sz="3600" b="1" dirty="0">
                <a:solidFill>
                  <a:srgbClr val="FF0000"/>
                </a:solidFill>
                <a:latin typeface="Helvetica" charset="0"/>
              </a:rPr>
              <a:t>on </a:t>
            </a:r>
          </a:p>
          <a:p>
            <a:pPr algn="ctr">
              <a:buClr>
                <a:srgbClr val="000000"/>
              </a:buClr>
              <a:buSzPct val="3800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</a:pPr>
            <a:r>
              <a:rPr lang="en-US" sz="3600" b="1" dirty="0">
                <a:solidFill>
                  <a:srgbClr val="FF0000"/>
                </a:solidFill>
                <a:ea typeface="MS Mincho" panose="02020609040205080304" pitchFamily="49" charset="-128"/>
                <a:cs typeface="Times New Roman" panose="02020603050405020304" pitchFamily="18" charset="0"/>
              </a:rPr>
              <a:t>Web Development</a:t>
            </a:r>
            <a:endParaRPr lang="en-CA" sz="1800" dirty="0">
              <a:solidFill>
                <a:srgbClr val="FF0000"/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buSzPct val="38000"/>
              <a:buFont typeface="StarBats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</a:pPr>
            <a:endParaRPr lang="en-GB" sz="3600" b="1" dirty="0">
              <a:solidFill>
                <a:srgbClr val="FF0000"/>
              </a:solidFill>
              <a:latin typeface="Helvetica" charset="0"/>
            </a:endParaRPr>
          </a:p>
        </p:txBody>
      </p:sp>
      <p:pic>
        <p:nvPicPr>
          <p:cNvPr id="7" name="Picture 6" descr="sideba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212819" cy="7559675"/>
          </a:xfrm>
          <a:prstGeom prst="rect">
            <a:avLst/>
          </a:prstGeom>
        </p:spPr>
      </p:pic>
    </p:spTree>
  </p:cSld>
  <p:clrMapOvr>
    <a:masterClrMapping/>
  </p:clrMapOvr>
  <p:transition spd="slow">
    <p:circl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FD5E44-218A-915C-5A11-DE7A256B9546}"/>
              </a:ext>
            </a:extLst>
          </p:cNvPr>
          <p:cNvSpPr txBox="1"/>
          <p:nvPr/>
        </p:nvSpPr>
        <p:spPr>
          <a:xfrm>
            <a:off x="647824" y="1850904"/>
            <a:ext cx="792088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2800" b="1" i="0" dirty="0">
                <a:effectLst/>
                <a:latin typeface="Arial" panose="020B0604020202020204" pitchFamily="34" charset="0"/>
              </a:rPr>
              <a:t>1. Introduction/Abstract</a:t>
            </a:r>
            <a:br>
              <a:rPr lang="en-US" sz="2800" b="1" i="0" dirty="0">
                <a:effectLst/>
                <a:latin typeface="Arial" panose="020B0604020202020204" pitchFamily="34" charset="0"/>
              </a:rPr>
            </a:br>
            <a:r>
              <a:rPr lang="en-US" sz="2800" b="1" i="0" dirty="0">
                <a:effectLst/>
                <a:latin typeface="Arial" panose="020B0604020202020204" pitchFamily="34" charset="0"/>
              </a:rPr>
              <a:t>2. Company</a:t>
            </a:r>
            <a:r>
              <a:rPr lang="en-US" sz="2800" b="1" dirty="0">
                <a:latin typeface="Arial" panose="020B0604020202020204" pitchFamily="34" charset="0"/>
              </a:rPr>
              <a:t> Profile</a:t>
            </a:r>
            <a:br>
              <a:rPr lang="en-US" sz="2800" b="1" i="0" dirty="0">
                <a:effectLst/>
                <a:latin typeface="Arial" panose="020B0604020202020204" pitchFamily="34" charset="0"/>
              </a:rPr>
            </a:br>
            <a:r>
              <a:rPr lang="en-US" sz="2800" b="1" i="0" dirty="0">
                <a:effectLst/>
                <a:latin typeface="Arial" panose="020B0604020202020204" pitchFamily="34" charset="0"/>
              </a:rPr>
              <a:t>3. Certificate</a:t>
            </a:r>
            <a:br>
              <a:rPr lang="en-US" sz="2800" b="1" i="0" dirty="0">
                <a:effectLst/>
                <a:latin typeface="Arial" panose="020B0604020202020204" pitchFamily="34" charset="0"/>
              </a:rPr>
            </a:br>
            <a:r>
              <a:rPr lang="en-US" sz="2800" b="1" i="0" dirty="0">
                <a:effectLst/>
                <a:latin typeface="Arial" panose="020B0604020202020204" pitchFamily="34" charset="0"/>
              </a:rPr>
              <a:t>4. Technology Name-Detailed  Description</a:t>
            </a:r>
          </a:p>
          <a:p>
            <a:pPr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2800" b="1" i="0" dirty="0">
                <a:effectLst/>
                <a:latin typeface="Arial" panose="020B0604020202020204" pitchFamily="34" charset="0"/>
              </a:rPr>
              <a:t>5. Tools Used</a:t>
            </a:r>
            <a:br>
              <a:rPr lang="en-US" sz="2800" b="1" i="0" dirty="0">
                <a:effectLst/>
                <a:latin typeface="Arial" panose="020B0604020202020204" pitchFamily="34" charset="0"/>
              </a:rPr>
            </a:br>
            <a:r>
              <a:rPr lang="en-US" sz="2800" b="1" i="0" dirty="0">
                <a:effectLst/>
                <a:latin typeface="Arial" panose="020B0604020202020204" pitchFamily="34" charset="0"/>
              </a:rPr>
              <a:t>6. Project Description</a:t>
            </a:r>
            <a:br>
              <a:rPr lang="en-US" sz="2800" b="1" i="0" dirty="0">
                <a:effectLst/>
                <a:latin typeface="Arial" panose="020B0604020202020204" pitchFamily="34" charset="0"/>
              </a:rPr>
            </a:br>
            <a:r>
              <a:rPr lang="en-US" sz="2800" b="1" i="0" dirty="0">
                <a:effectLst/>
                <a:latin typeface="Arial" panose="020B0604020202020204" pitchFamily="34" charset="0"/>
              </a:rPr>
              <a:t>7. Screenshots of Project</a:t>
            </a:r>
            <a:br>
              <a:rPr lang="en-US" sz="2800" b="1" i="0" dirty="0">
                <a:effectLst/>
                <a:latin typeface="Arial" panose="020B0604020202020204" pitchFamily="34" charset="0"/>
              </a:rPr>
            </a:br>
            <a:r>
              <a:rPr lang="en-US" sz="2800" b="1" i="0" dirty="0">
                <a:effectLst/>
                <a:latin typeface="Arial" panose="020B0604020202020204" pitchFamily="34" charset="0"/>
              </a:rPr>
              <a:t>8. Conclusion</a:t>
            </a:r>
            <a:br>
              <a:rPr lang="en-US" sz="2800" b="1" i="0" dirty="0">
                <a:effectLst/>
                <a:latin typeface="Arial" panose="020B0604020202020204" pitchFamily="34" charset="0"/>
              </a:rPr>
            </a:br>
            <a:r>
              <a:rPr lang="en-US" sz="2800" b="1" i="0" dirty="0">
                <a:effectLst/>
                <a:latin typeface="Arial" panose="020B0604020202020204" pitchFamily="34" charset="0"/>
              </a:rPr>
              <a:t>9. Future Scope</a:t>
            </a:r>
            <a:br>
              <a:rPr lang="en-US" sz="2800" b="1" i="0" dirty="0">
                <a:effectLst/>
                <a:latin typeface="Arial" panose="020B0604020202020204" pitchFamily="34" charset="0"/>
              </a:rPr>
            </a:br>
            <a:endParaRPr lang="en-US" sz="2800" b="1" i="0" dirty="0"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36D36D-2B4C-5512-72F1-EEF60EF4272A}"/>
              </a:ext>
            </a:extLst>
          </p:cNvPr>
          <p:cNvSpPr txBox="1"/>
          <p:nvPr/>
        </p:nvSpPr>
        <p:spPr>
          <a:xfrm>
            <a:off x="3672160" y="467469"/>
            <a:ext cx="5040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="1" dirty="0">
                <a:solidFill>
                  <a:srgbClr val="FF0000"/>
                </a:solidFill>
              </a:rPr>
              <a:t>Contents</a:t>
            </a:r>
            <a:endParaRPr lang="en-CA" sz="3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3C1BCB-8FFB-C4CF-AAF8-70E3AB7AC00D}"/>
              </a:ext>
            </a:extLst>
          </p:cNvPr>
          <p:cNvSpPr txBox="1"/>
          <p:nvPr/>
        </p:nvSpPr>
        <p:spPr>
          <a:xfrm>
            <a:off x="2376016" y="467469"/>
            <a:ext cx="5040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Bats" charset="0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/>
                <a:ea typeface="+mn-ea"/>
                <a:cs typeface="+mn-cs"/>
              </a:rPr>
              <a:t>Abstract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BC7FA9-A135-33BA-8309-7D67F78F5781}"/>
              </a:ext>
            </a:extLst>
          </p:cNvPr>
          <p:cNvSpPr txBox="1"/>
          <p:nvPr/>
        </p:nvSpPr>
        <p:spPr>
          <a:xfrm>
            <a:off x="215776" y="1619597"/>
            <a:ext cx="964907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Industrial Training at </a:t>
            </a:r>
            <a:r>
              <a:rPr lang="en-US" b="1" dirty="0">
                <a:solidFill>
                  <a:srgbClr val="FF0000"/>
                </a:solidFill>
              </a:rPr>
              <a:t>Learn and Build Pvt. Ltd</a:t>
            </a:r>
            <a:r>
              <a:rPr lang="en-US" dirty="0"/>
              <a:t> provided a comprehensive exposure to web development and full-stack project implementation. During this training, I developed </a:t>
            </a:r>
            <a:r>
              <a:rPr lang="en-US" b="1" dirty="0" err="1">
                <a:solidFill>
                  <a:srgbClr val="FF0000"/>
                </a:solidFill>
              </a:rPr>
              <a:t>Quickblog</a:t>
            </a:r>
            <a:r>
              <a:rPr lang="en-US" dirty="0"/>
              <a:t>, an interactive blogging platform, which enhanced my skills in both frontend and backend development. The project involved creating a responsive user interface, implementing secure login mechanisms for admin users, and integrating functionalities such as blog categorization, comment moderation, and AI-assisted content generation.</a:t>
            </a:r>
          </a:p>
          <a:p>
            <a:r>
              <a:rPr lang="en-US" dirty="0"/>
              <a:t>This training not only strengthened my coding abilities but also provided practical insights into project planning, user experience design, and content management. It prepared me to develop scalable, feature-rich web applications while understanding real-world challenges like data validation, administrative controls, and user interaction flows.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0101F-6C80-B6CE-756F-C646AD503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64" y="431421"/>
            <a:ext cx="9072563" cy="682823"/>
          </a:xfrm>
        </p:spPr>
        <p:txBody>
          <a:bodyPr/>
          <a:lstStyle/>
          <a:p>
            <a:pPr algn="l"/>
            <a:r>
              <a:rPr lang="en-IN" sz="3600" b="1" dirty="0">
                <a:solidFill>
                  <a:srgbClr val="FF0000"/>
                </a:solidFill>
              </a:rPr>
              <a:t>Company</a:t>
            </a:r>
            <a:r>
              <a:rPr lang="en-IN" sz="3600" b="1" dirty="0"/>
              <a:t> </a:t>
            </a:r>
            <a:r>
              <a:rPr lang="en-IN" sz="3600" b="1" dirty="0">
                <a:solidFill>
                  <a:srgbClr val="FF0000"/>
                </a:solidFill>
              </a:rPr>
              <a:t>Details</a:t>
            </a:r>
            <a:endParaRPr sz="36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273EDE-C3DD-393E-C72B-728703579F4D}"/>
              </a:ext>
            </a:extLst>
          </p:cNvPr>
          <p:cNvSpPr txBox="1"/>
          <p:nvPr/>
        </p:nvSpPr>
        <p:spPr>
          <a:xfrm>
            <a:off x="71760" y="1403573"/>
            <a:ext cx="993710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Learn and Build Pvt. Ltd.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is a technology-driven organization dedicated to providing practical training and project-based learning for students and professionals. The company focuses on hands-on mentoring, enabling interns to work on real-world projects that enhance their technical and problem-solving skills.</a:t>
            </a:r>
          </a:p>
          <a:p>
            <a:r>
              <a:rPr lang="en-US" b="1" dirty="0">
                <a:solidFill>
                  <a:srgbClr val="FF0000"/>
                </a:solidFill>
              </a:rPr>
              <a:t>Key Features of the Company: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  - Offers training in multiple domains such as </a:t>
            </a:r>
            <a:r>
              <a:rPr lang="en-US" b="1" dirty="0"/>
              <a:t>Web Development, Data Science, Artificial Intelligence, Machine Learning, Mobile App Development, and Cloud Computing</a:t>
            </a:r>
            <a:r>
              <a:rPr lang="en-US" dirty="0"/>
              <a:t>.</a:t>
            </a:r>
          </a:p>
          <a:p>
            <a:r>
              <a:rPr lang="en-US" dirty="0"/>
              <a:t>  - Provides </a:t>
            </a:r>
            <a:r>
              <a:rPr lang="en-US" b="1" dirty="0"/>
              <a:t>project-oriented learning</a:t>
            </a:r>
            <a:r>
              <a:rPr lang="en-US" dirty="0"/>
              <a:t> to bridge the gap between academic knowledge and industry requirements.</a:t>
            </a:r>
          </a:p>
          <a:p>
            <a:r>
              <a:rPr lang="en-US" dirty="0"/>
              <a:t>  - Encourages </a:t>
            </a:r>
            <a:r>
              <a:rPr lang="en-US" b="1" dirty="0"/>
              <a:t>innovative thinking and practical implementation</a:t>
            </a:r>
            <a:r>
              <a:rPr lang="en-US" dirty="0"/>
              <a:t>, allowing interns to design, develop, and deploy applications in real-world scenarios.</a:t>
            </a:r>
          </a:p>
          <a:p>
            <a:r>
              <a:rPr lang="en-US" dirty="0"/>
              <a:t>  - Supports skill development in </a:t>
            </a:r>
            <a:r>
              <a:rPr lang="en-US" b="1" dirty="0"/>
              <a:t>full-stack development, UI/UX design, database management, and software testing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69933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9FA6D4-C4C4-BE60-10EB-52AACD83211A}"/>
              </a:ext>
            </a:extLst>
          </p:cNvPr>
          <p:cNvSpPr txBox="1"/>
          <p:nvPr/>
        </p:nvSpPr>
        <p:spPr>
          <a:xfrm>
            <a:off x="3528144" y="395461"/>
            <a:ext cx="5040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600" b="1" dirty="0">
                <a:solidFill>
                  <a:srgbClr val="FF0000"/>
                </a:solidFill>
              </a:rPr>
              <a:t>Certificate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6962D0-E870-A763-DB90-4DC08DEFBE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11" y="1547589"/>
            <a:ext cx="9432801" cy="5748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296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E1A07E-2338-0269-C6DB-5949B5541808}"/>
              </a:ext>
            </a:extLst>
          </p:cNvPr>
          <p:cNvSpPr txBox="1"/>
          <p:nvPr/>
        </p:nvSpPr>
        <p:spPr>
          <a:xfrm>
            <a:off x="2952080" y="467469"/>
            <a:ext cx="5040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600" b="1" dirty="0">
                <a:solidFill>
                  <a:srgbClr val="FF0000"/>
                </a:solidFill>
              </a:rPr>
              <a:t>Technologies Used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020081-A031-8D9A-5592-2D7714FF10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784" y="1629469"/>
            <a:ext cx="9072761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000" b="1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1. React.js:</a:t>
            </a:r>
            <a:br>
              <a:rPr lang="en-US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  - Description: React is a JavaScript library for building user interfaces. It uses a component-based architecture, allowing developers to create reusable UI elements.</a:t>
            </a:r>
            <a:br>
              <a:rPr lang="en-US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  - Why Used: Ensures dynamic rendering of content, seamless state management, and efficient updates to the DOM, making the application fast and interactive.</a:t>
            </a:r>
            <a:br>
              <a:rPr lang="en-US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2000" b="1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b="1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2. Node.js:</a:t>
            </a:r>
            <a:br>
              <a:rPr lang="en-US" sz="2000" b="1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  - Description: Node.js is a JavaScript runtime built on Chrome's V8 engine. It allows server-side scripting using JavaScript, enabling developers to build scalable and lightweight applications.</a:t>
            </a:r>
            <a:br>
              <a:rPr lang="en-US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  - Why Used: Provides a non-blocking, event-driven architecture ideal for building RESTful APIs and handling multiple simultaneous requests efficiently.</a:t>
            </a:r>
            <a:br>
              <a:rPr lang="en-US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b="1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3. Express.js:</a:t>
            </a:r>
            <a:br>
              <a:rPr lang="en-US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  - Description: Express.js is a minimal and flexible Node.js web application framework. It provides tools for building robust APIs and web applications.</a:t>
            </a:r>
            <a:br>
              <a:rPr lang="en-US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  - Why Used: Simplifies server-side routing, middleware handling, and API development, reducing development complexity.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668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1D4033-EEC1-6C84-273F-19CD7BC3FD60}"/>
              </a:ext>
            </a:extLst>
          </p:cNvPr>
          <p:cNvSpPr txBox="1"/>
          <p:nvPr/>
        </p:nvSpPr>
        <p:spPr>
          <a:xfrm>
            <a:off x="2952080" y="395461"/>
            <a:ext cx="5040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600" b="1" dirty="0">
                <a:solidFill>
                  <a:srgbClr val="FF0000"/>
                </a:solidFill>
              </a:rPr>
              <a:t>Technologies Used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D62005-FF59-7469-1912-D27829A6A80C}"/>
              </a:ext>
            </a:extLst>
          </p:cNvPr>
          <p:cNvSpPr txBox="1"/>
          <p:nvPr/>
        </p:nvSpPr>
        <p:spPr>
          <a:xfrm>
            <a:off x="251780" y="1691605"/>
            <a:ext cx="9577064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4. MongoDB:</a:t>
            </a:r>
            <a:br>
              <a:rPr lang="en-US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  - Description: MongoDB is a NoSQL database designed for storing data in a flexible, JSON-like format. It supports scalable and distributed data management.</a:t>
            </a:r>
            <a:br>
              <a:rPr lang="en-US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  - Why Used: Enables efficient storage and retrieval of structured and unstructured data, making it ideal for assignments, user roles, and submission records.</a:t>
            </a:r>
            <a:br>
              <a:rPr lang="en-US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b="1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5. JWT (JSON Web Tokens):</a:t>
            </a:r>
            <a:br>
              <a:rPr lang="en-US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  - Description: JWT is an open standard for securely transmitting information between parties as a JSON object, digitally signed using a secret or public/private key pair.</a:t>
            </a:r>
            <a:br>
              <a:rPr lang="en-US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  - Why Used: Implements secure authentication and authorization for role-based access control.</a:t>
            </a:r>
            <a:br>
              <a:rPr lang="en-US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b="1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6. </a:t>
            </a:r>
            <a:r>
              <a:rPr lang="en-US" sz="2000" b="1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bcrypt</a:t>
            </a:r>
            <a:r>
              <a:rPr lang="en-US" sz="2000" b="1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  - Description: </a:t>
            </a:r>
            <a:r>
              <a:rPr lang="en-US" sz="20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bcrypt</a:t>
            </a:r>
            <a:r>
              <a:rPr lang="en-US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is a password-hashing library that uses a salt to protect against brute force attacks.</a:t>
            </a:r>
            <a:br>
              <a:rPr lang="en-US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  - Why Used: Ensures secure storage of user passwords, adding a layer of security to the application.</a:t>
            </a:r>
            <a:endParaRPr lang="en-CA" sz="20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647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9BE353-9217-F5E4-8223-590172641A0E}"/>
              </a:ext>
            </a:extLst>
          </p:cNvPr>
          <p:cNvSpPr txBox="1"/>
          <p:nvPr/>
        </p:nvSpPr>
        <p:spPr>
          <a:xfrm>
            <a:off x="3024088" y="395461"/>
            <a:ext cx="5040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600" b="1" dirty="0">
                <a:solidFill>
                  <a:srgbClr val="FF0000"/>
                </a:solidFill>
              </a:rPr>
              <a:t>Technologies Used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40E5A9-5ED8-3D37-0F84-D935647423D8}"/>
              </a:ext>
            </a:extLst>
          </p:cNvPr>
          <p:cNvSpPr txBox="1"/>
          <p:nvPr/>
        </p:nvSpPr>
        <p:spPr>
          <a:xfrm>
            <a:off x="359792" y="1763613"/>
            <a:ext cx="8928992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7</a:t>
            </a:r>
            <a:r>
              <a:rPr lang="en-IN" sz="2000" b="1" dirty="0"/>
              <a:t>. ImageKit.io:</a:t>
            </a:r>
            <a:endParaRPr lang="en-IN" sz="2000" dirty="0"/>
          </a:p>
          <a:p>
            <a:r>
              <a:rPr lang="en-US" sz="2000" dirty="0"/>
              <a:t>   - </a:t>
            </a:r>
            <a:r>
              <a:rPr lang="en-IN" sz="2000" dirty="0"/>
              <a:t>Description: ImageKit.io is a real-time image optimization and media management platform that provides automatic resizing, compression, and CDN delivery.</a:t>
            </a:r>
          </a:p>
          <a:p>
            <a:r>
              <a:rPr lang="en-US" sz="2000" dirty="0"/>
              <a:t>   - </a:t>
            </a:r>
            <a:r>
              <a:rPr lang="en-IN" sz="2000" dirty="0"/>
              <a:t>Why Used: Enables seamless image uploads for blog thumbnails, ensuring optimized performance and faster image delivery.</a:t>
            </a:r>
          </a:p>
          <a:p>
            <a:endParaRPr lang="en-IN" sz="2000" dirty="0"/>
          </a:p>
          <a:p>
            <a:r>
              <a:rPr lang="en-IN" sz="2000" b="1" dirty="0"/>
              <a:t>8. Gemini API (Google AI):</a:t>
            </a:r>
            <a:endParaRPr lang="en-IN" sz="2000" dirty="0"/>
          </a:p>
          <a:p>
            <a:r>
              <a:rPr lang="en-US" sz="2000" dirty="0"/>
              <a:t>   - </a:t>
            </a:r>
            <a:r>
              <a:rPr lang="en-IN" sz="2000" dirty="0"/>
              <a:t>Description: Gemini API is Google’s advanced AI model that enables natural language understanding and text generation.</a:t>
            </a:r>
          </a:p>
          <a:p>
            <a:r>
              <a:rPr lang="en-US" sz="2000" dirty="0"/>
              <a:t>   - </a:t>
            </a:r>
            <a:r>
              <a:rPr lang="en-IN" sz="2000" dirty="0"/>
              <a:t>Why Used: Integrated to automatically generate engaging blog descriptions based on titles, improving content creation efficiency for the admin.</a:t>
            </a:r>
          </a:p>
          <a:p>
            <a:br>
              <a:rPr lang="en-US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b="1" dirty="0">
                <a:ea typeface="MS Mincho" panose="02020609040205080304" pitchFamily="49" charset="-128"/>
                <a:cs typeface="Times New Roman" panose="02020603050405020304" pitchFamily="18" charset="0"/>
              </a:rPr>
              <a:t>9</a:t>
            </a:r>
            <a:r>
              <a:rPr lang="en-US" sz="2000" b="1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2000" b="1" dirty="0"/>
              <a:t>Tailwind CSS:</a:t>
            </a:r>
            <a:endParaRPr lang="en-US" sz="2000" dirty="0"/>
          </a:p>
          <a:p>
            <a:r>
              <a:rPr lang="en-US" sz="2000" dirty="0"/>
              <a:t>   - Description: Tailwind CSS is a utility-first CSS framework that allows developers to design modern, responsive layouts using predefined utility classes.</a:t>
            </a:r>
          </a:p>
          <a:p>
            <a:r>
              <a:rPr lang="en-US" sz="2000" dirty="0"/>
              <a:t>   - Why Used: Enables rapid UI development, consistent styling, and responsiveness across devices without writing extensive custom CSS.</a:t>
            </a:r>
          </a:p>
          <a:p>
            <a:endParaRPr lang="en-CA" sz="20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021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ABF580-48E6-86C9-5392-156A8070805D}"/>
              </a:ext>
            </a:extLst>
          </p:cNvPr>
          <p:cNvSpPr txBox="1"/>
          <p:nvPr/>
        </p:nvSpPr>
        <p:spPr>
          <a:xfrm>
            <a:off x="3024088" y="395461"/>
            <a:ext cx="5040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600" b="1" dirty="0">
                <a:solidFill>
                  <a:srgbClr val="FF0000"/>
                </a:solidFill>
              </a:rPr>
              <a:t>Tools Used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9ED35D-279B-1413-5D5B-147341563147}"/>
              </a:ext>
            </a:extLst>
          </p:cNvPr>
          <p:cNvSpPr txBox="1"/>
          <p:nvPr/>
        </p:nvSpPr>
        <p:spPr>
          <a:xfrm>
            <a:off x="251780" y="1475581"/>
            <a:ext cx="9577064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b="1" dirty="0"/>
          </a:p>
          <a:p>
            <a:r>
              <a:rPr lang="en-US" sz="2000" b="1" dirty="0"/>
              <a:t>Visual Studio Code (VS Code)</a:t>
            </a:r>
          </a:p>
          <a:p>
            <a:r>
              <a:rPr lang="en-US" sz="2000" b="1" dirty="0"/>
              <a:t>  - </a:t>
            </a:r>
            <a:r>
              <a:rPr lang="en-US" sz="2000" dirty="0"/>
              <a:t>Description: A lightweight and powerful code editor by Microsoft that supports multiple programming languages and extensions.</a:t>
            </a:r>
          </a:p>
          <a:p>
            <a:r>
              <a:rPr lang="en-US" sz="2000" dirty="0"/>
              <a:t>   - Why Used: Served as the main development environment for coding, debugging, and running both frontend and backend efficiently.</a:t>
            </a:r>
          </a:p>
          <a:p>
            <a:pPr lvl="1"/>
            <a:endParaRPr lang="en-US" sz="2000" dirty="0"/>
          </a:p>
          <a:p>
            <a:r>
              <a:rPr lang="en-US" sz="2000" b="1" dirty="0"/>
              <a:t>Postman</a:t>
            </a:r>
          </a:p>
          <a:p>
            <a:r>
              <a:rPr lang="en-US" sz="2000" b="1" dirty="0"/>
              <a:t> - </a:t>
            </a:r>
            <a:r>
              <a:rPr lang="en-US" sz="2000" dirty="0"/>
              <a:t>Description: An API development and testing tool used to send, monitor, and document HTTP requests.</a:t>
            </a:r>
          </a:p>
          <a:p>
            <a:r>
              <a:rPr lang="en-US" sz="2000" b="1" dirty="0"/>
              <a:t> - </a:t>
            </a:r>
            <a:r>
              <a:rPr lang="en-US" sz="2000" dirty="0"/>
              <a:t>Why Used: Helped test backend routes, verify API responses, and ensure smooth communication between client and server.</a:t>
            </a:r>
          </a:p>
          <a:p>
            <a:endParaRPr lang="en-US" sz="2000" dirty="0"/>
          </a:p>
          <a:p>
            <a:r>
              <a:rPr lang="en-US" sz="2000" b="1" dirty="0"/>
              <a:t>GitHub</a:t>
            </a:r>
          </a:p>
          <a:p>
            <a:r>
              <a:rPr lang="en-US" sz="2000" b="1" dirty="0"/>
              <a:t> - </a:t>
            </a:r>
            <a:r>
              <a:rPr lang="en-US" sz="2000" dirty="0"/>
              <a:t>Description: A cloud-based version control platform built on Git for managing and collaborating on code projects.</a:t>
            </a:r>
          </a:p>
          <a:p>
            <a:r>
              <a:rPr lang="en-US" sz="2000" b="1" dirty="0"/>
              <a:t> - </a:t>
            </a:r>
            <a:r>
              <a:rPr lang="en-US" sz="2000" dirty="0"/>
              <a:t>Why Used: Used for maintaining code versions, tracking changes, and enabling collaboration through commits and branches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408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61C4B-4CC7-52E3-60E8-F0339527B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5CD133-B05D-217C-A8A2-3C919F3AD9EA}"/>
              </a:ext>
            </a:extLst>
          </p:cNvPr>
          <p:cNvSpPr txBox="1"/>
          <p:nvPr/>
        </p:nvSpPr>
        <p:spPr>
          <a:xfrm>
            <a:off x="3024088" y="395461"/>
            <a:ext cx="5040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600" b="1" dirty="0">
                <a:solidFill>
                  <a:srgbClr val="FF0000"/>
                </a:solidFill>
              </a:rPr>
              <a:t>Tools Used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E587DD-8856-5F43-2EEE-900A0898A405}"/>
              </a:ext>
            </a:extLst>
          </p:cNvPr>
          <p:cNvSpPr txBox="1"/>
          <p:nvPr/>
        </p:nvSpPr>
        <p:spPr>
          <a:xfrm>
            <a:off x="251780" y="1475581"/>
            <a:ext cx="9577064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b="1" dirty="0"/>
          </a:p>
          <a:p>
            <a:r>
              <a:rPr lang="en-US" sz="2000" b="1" dirty="0"/>
              <a:t>MongoDB Atlas:</a:t>
            </a:r>
          </a:p>
          <a:p>
            <a:r>
              <a:rPr lang="en-US" sz="2000" b="1" dirty="0"/>
              <a:t> - </a:t>
            </a:r>
            <a:r>
              <a:rPr lang="en-US" sz="2000" dirty="0"/>
              <a:t>Description: A fully managed cloud database service offering scalability, performance, and security for MongoDB.</a:t>
            </a:r>
          </a:p>
          <a:p>
            <a:r>
              <a:rPr lang="en-US" sz="2000" b="1" dirty="0"/>
              <a:t> - </a:t>
            </a:r>
            <a:r>
              <a:rPr lang="en-US" sz="2000" dirty="0"/>
              <a:t>Why Used: Hosted and managed the project’s database, providing real-time access and automatic backups with minimal maintenance.</a:t>
            </a:r>
            <a:br>
              <a:rPr lang="en-US" sz="2000" dirty="0"/>
            </a:br>
            <a:endParaRPr lang="en-US" sz="2000" dirty="0"/>
          </a:p>
          <a:p>
            <a:r>
              <a:rPr lang="en-US" sz="2000" b="1" dirty="0" err="1"/>
              <a:t>Vercel</a:t>
            </a:r>
            <a:r>
              <a:rPr lang="en-US" sz="2000" b="1" dirty="0"/>
              <a:t>:</a:t>
            </a:r>
          </a:p>
          <a:p>
            <a:r>
              <a:rPr lang="en-US" sz="2000" b="1" dirty="0"/>
              <a:t> - </a:t>
            </a:r>
            <a:r>
              <a:rPr lang="en-US" sz="2000" dirty="0"/>
              <a:t>Description: A cloud platform for deploying and hosting web applications with integrated CI/CD and global CDN.</a:t>
            </a:r>
          </a:p>
          <a:p>
            <a:r>
              <a:rPr lang="en-US" sz="2000" b="1" dirty="0"/>
              <a:t> - </a:t>
            </a:r>
            <a:r>
              <a:rPr lang="en-US" sz="2000" dirty="0"/>
              <a:t>Why Used: Used to deploy </a:t>
            </a:r>
            <a:r>
              <a:rPr lang="en-US" sz="2000" b="1" dirty="0" err="1"/>
              <a:t>Quickblog</a:t>
            </a:r>
            <a:r>
              <a:rPr lang="en-US" sz="2000" dirty="0"/>
              <a:t>, ensuring fast, reliable, and secure hosting with smooth performance across devices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6554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1952FC-A7C7-F460-CE6F-E8A99C4E8028}"/>
              </a:ext>
            </a:extLst>
          </p:cNvPr>
          <p:cNvSpPr txBox="1"/>
          <p:nvPr/>
        </p:nvSpPr>
        <p:spPr>
          <a:xfrm>
            <a:off x="251780" y="1763613"/>
            <a:ext cx="957706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Quickblog</a:t>
            </a:r>
            <a:r>
              <a:rPr lang="en-US" b="1" dirty="0"/>
              <a:t>:</a:t>
            </a:r>
          </a:p>
          <a:p>
            <a:r>
              <a:rPr lang="en-US" dirty="0"/>
              <a:t>A </a:t>
            </a:r>
            <a:r>
              <a:rPr lang="en-US" b="1" dirty="0"/>
              <a:t>full-stack blogging platform</a:t>
            </a:r>
            <a:r>
              <a:rPr lang="en-US" dirty="0"/>
              <a:t> built using the </a:t>
            </a:r>
            <a:r>
              <a:rPr lang="en-US" b="1" dirty="0"/>
              <a:t>MERN stack (MongoDB, Express.js, React.js, Node.js)</a:t>
            </a:r>
            <a:r>
              <a:rPr lang="en-US" dirty="0"/>
              <a:t> designed to simplify and enhance the blogging experience for both authors and readers.</a:t>
            </a:r>
            <a:br>
              <a:rPr lang="en-US" dirty="0"/>
            </a:br>
            <a:r>
              <a:rPr lang="en-US" dirty="0"/>
              <a:t>The system allows users to browse, read, and interact with blogs across multiple categories such as technology, lifestyle, and more. It also provides a dedicated </a:t>
            </a:r>
            <a:r>
              <a:rPr lang="en-US" b="1" dirty="0"/>
              <a:t>admin dashboard</a:t>
            </a:r>
            <a:r>
              <a:rPr lang="en-US" dirty="0"/>
              <a:t> for content management, comment moderation, and AI-assisted blog creation.</a:t>
            </a:r>
          </a:p>
          <a:p>
            <a:endParaRPr lang="en-US" dirty="0"/>
          </a:p>
          <a:p>
            <a:r>
              <a:rPr lang="en-US" b="1" dirty="0"/>
              <a:t>Key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Dynamic Blog Management:</a:t>
            </a:r>
            <a:r>
              <a:rPr lang="en-US" dirty="0"/>
              <a:t> Admins can create, publish, unpublish, or delete blogs through an intuitive dashboard interface.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AI-Powered Blog Generation:</a:t>
            </a:r>
            <a:r>
              <a:rPr lang="en-US" dirty="0"/>
              <a:t> Integrated with </a:t>
            </a:r>
            <a:r>
              <a:rPr lang="en-US" b="1" dirty="0"/>
              <a:t>Gemini API</a:t>
            </a:r>
            <a:r>
              <a:rPr lang="en-US" dirty="0"/>
              <a:t> to automatically generate blog descriptions based on the provided title, saving time and effort.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E6311B-DAD6-02AE-CF30-50377C12CFB5}"/>
              </a:ext>
            </a:extLst>
          </p:cNvPr>
          <p:cNvSpPr txBox="1"/>
          <p:nvPr/>
        </p:nvSpPr>
        <p:spPr>
          <a:xfrm>
            <a:off x="2520068" y="467469"/>
            <a:ext cx="5040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600" b="1" dirty="0">
                <a:solidFill>
                  <a:srgbClr val="FF0000"/>
                </a:solidFill>
              </a:rPr>
              <a:t>Project Description</a:t>
            </a:r>
          </a:p>
        </p:txBody>
      </p:sp>
    </p:spTree>
    <p:extLst>
      <p:ext uri="{BB962C8B-B14F-4D97-AF65-F5344CB8AC3E}">
        <p14:creationId xmlns:p14="http://schemas.microsoft.com/office/powerpoint/2010/main" val="2693128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0BF0C-E1F6-E27B-20D2-5604111C1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2F84CD-0E43-A1D2-5B1F-95E8AD18E089}"/>
              </a:ext>
            </a:extLst>
          </p:cNvPr>
          <p:cNvSpPr txBox="1"/>
          <p:nvPr/>
        </p:nvSpPr>
        <p:spPr>
          <a:xfrm>
            <a:off x="251780" y="1763613"/>
            <a:ext cx="957706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Category-Based Filtering:</a:t>
            </a:r>
            <a:r>
              <a:rPr lang="en-US" dirty="0"/>
              <a:t> Users can explore blogs filtered by topics or interests for personalized reading experiences.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Comment Moderation System:</a:t>
            </a:r>
            <a:r>
              <a:rPr lang="en-US" dirty="0"/>
              <a:t> Comments added by users are first sent for admin approval before being displayed publicly, ensuring content quality and authenticity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Secure Authentication:</a:t>
            </a:r>
            <a:r>
              <a:rPr lang="en-US" dirty="0"/>
              <a:t> Uses </a:t>
            </a:r>
            <a:r>
              <a:rPr lang="en-US" b="1" dirty="0"/>
              <a:t>JWT</a:t>
            </a:r>
            <a:r>
              <a:rPr lang="en-US" dirty="0"/>
              <a:t> for login and </a:t>
            </a:r>
            <a:r>
              <a:rPr lang="en-US" b="1" dirty="0" err="1"/>
              <a:t>bcrypt</a:t>
            </a:r>
            <a:r>
              <a:rPr lang="en-US" dirty="0"/>
              <a:t> for password encryption to ensure data security and role-based access.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Responsive UI:</a:t>
            </a:r>
            <a:r>
              <a:rPr lang="en-US" dirty="0"/>
              <a:t> Developed with </a:t>
            </a:r>
            <a:r>
              <a:rPr lang="en-US" b="1" dirty="0"/>
              <a:t>Tailwind CSS</a:t>
            </a:r>
            <a:r>
              <a:rPr lang="en-US" dirty="0"/>
              <a:t>, providing a clean, adaptive design across all devices.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Image Uploads with ImageKit.io:</a:t>
            </a:r>
            <a:r>
              <a:rPr lang="en-US" dirty="0"/>
              <a:t> Enables real-time image optimization, compression, and CDN delivery for blog thumbnails.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Real-Time Data Handling:</a:t>
            </a:r>
            <a:r>
              <a:rPr lang="en-US" dirty="0"/>
              <a:t> API communication managed via </a:t>
            </a:r>
            <a:r>
              <a:rPr lang="en-US" b="1" dirty="0"/>
              <a:t>Axios</a:t>
            </a:r>
            <a:r>
              <a:rPr lang="en-US" dirty="0"/>
              <a:t> for seamless frontend-backend integration.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ACFBBE-45C3-84A8-D88D-68415E535414}"/>
              </a:ext>
            </a:extLst>
          </p:cNvPr>
          <p:cNvSpPr txBox="1"/>
          <p:nvPr/>
        </p:nvSpPr>
        <p:spPr>
          <a:xfrm>
            <a:off x="2520068" y="467469"/>
            <a:ext cx="5040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600" b="1" dirty="0">
                <a:solidFill>
                  <a:srgbClr val="FF0000"/>
                </a:solidFill>
              </a:rPr>
              <a:t>Project Description</a:t>
            </a:r>
          </a:p>
        </p:txBody>
      </p:sp>
    </p:spTree>
    <p:extLst>
      <p:ext uri="{BB962C8B-B14F-4D97-AF65-F5344CB8AC3E}">
        <p14:creationId xmlns:p14="http://schemas.microsoft.com/office/powerpoint/2010/main" val="3847939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C278C-EEB8-A3B7-3CCA-5376885A7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BFDB9B-25D8-8D3D-D831-1594558D048A}"/>
              </a:ext>
            </a:extLst>
          </p:cNvPr>
          <p:cNvSpPr txBox="1"/>
          <p:nvPr/>
        </p:nvSpPr>
        <p:spPr>
          <a:xfrm>
            <a:off x="251780" y="1763613"/>
            <a:ext cx="957706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Impact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Provides a </a:t>
            </a:r>
            <a:r>
              <a:rPr lang="en-US" b="1" dirty="0"/>
              <a:t>centralized platform</a:t>
            </a:r>
            <a:r>
              <a:rPr lang="en-US" dirty="0"/>
              <a:t> for creating and managing engaging blog content.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Simplifies content publishing and moderation for admins through automation and AI assistance.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Enhances user interaction and engagement via categorized browsing and commenting features.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Ensures secure, scalable, and high-performance deployment using </a:t>
            </a:r>
            <a:r>
              <a:rPr lang="en-US" b="1" dirty="0" err="1"/>
              <a:t>Vercel</a:t>
            </a:r>
            <a:r>
              <a:rPr lang="en-US" dirty="0"/>
              <a:t> and </a:t>
            </a:r>
            <a:r>
              <a:rPr lang="en-US" b="1" dirty="0"/>
              <a:t>MongoDB Atlas</a:t>
            </a:r>
            <a:r>
              <a:rPr lang="en-US" dirty="0"/>
              <a:t> (database).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Bridges creativity and technology by combining human content creation with AI-powered efficiency.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03874D-34D6-E436-870E-6FA7CE1D6B55}"/>
              </a:ext>
            </a:extLst>
          </p:cNvPr>
          <p:cNvSpPr txBox="1"/>
          <p:nvPr/>
        </p:nvSpPr>
        <p:spPr>
          <a:xfrm>
            <a:off x="2520068" y="467469"/>
            <a:ext cx="5040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600" b="1" dirty="0">
                <a:solidFill>
                  <a:srgbClr val="FF0000"/>
                </a:solidFill>
              </a:rPr>
              <a:t>Project Description</a:t>
            </a:r>
          </a:p>
        </p:txBody>
      </p:sp>
    </p:spTree>
    <p:extLst>
      <p:ext uri="{BB962C8B-B14F-4D97-AF65-F5344CB8AC3E}">
        <p14:creationId xmlns:p14="http://schemas.microsoft.com/office/powerpoint/2010/main" val="17723234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03B490C-4D99-9CC4-EF2A-771AEF132A76}"/>
              </a:ext>
            </a:extLst>
          </p:cNvPr>
          <p:cNvSpPr txBox="1"/>
          <p:nvPr/>
        </p:nvSpPr>
        <p:spPr>
          <a:xfrm>
            <a:off x="3528144" y="395461"/>
            <a:ext cx="503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600" b="1" dirty="0">
                <a:solidFill>
                  <a:srgbClr val="FF0000"/>
                </a:solidFill>
              </a:rPr>
              <a:t>OUTPUT: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8FB822-3981-0CA4-D2EA-452F2EC539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784" y="1403573"/>
            <a:ext cx="9505056" cy="599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53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C76BE3-836B-B772-6CEB-57C12F6A8F9F}"/>
              </a:ext>
            </a:extLst>
          </p:cNvPr>
          <p:cNvSpPr txBox="1"/>
          <p:nvPr/>
        </p:nvSpPr>
        <p:spPr>
          <a:xfrm>
            <a:off x="3528144" y="395811"/>
            <a:ext cx="5040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600" b="1" dirty="0">
                <a:solidFill>
                  <a:srgbClr val="FF0000"/>
                </a:solidFill>
              </a:rPr>
              <a:t>OUTPUT: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E9B548-6A6A-D2B1-49DA-A195B78A9E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776" y="1619597"/>
            <a:ext cx="9289032" cy="518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40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C76BE3-836B-B772-6CEB-57C12F6A8F9F}"/>
              </a:ext>
            </a:extLst>
          </p:cNvPr>
          <p:cNvSpPr txBox="1"/>
          <p:nvPr/>
        </p:nvSpPr>
        <p:spPr>
          <a:xfrm>
            <a:off x="3528144" y="395811"/>
            <a:ext cx="5040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600" b="1" dirty="0">
                <a:solidFill>
                  <a:srgbClr val="FF0000"/>
                </a:solidFill>
              </a:rPr>
              <a:t>OUTPUT: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E3C2FF-3D23-2845-F607-938EE7172E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899" y="1331565"/>
            <a:ext cx="9648825" cy="5313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7364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C76BE3-836B-B772-6CEB-57C12F6A8F9F}"/>
              </a:ext>
            </a:extLst>
          </p:cNvPr>
          <p:cNvSpPr txBox="1"/>
          <p:nvPr/>
        </p:nvSpPr>
        <p:spPr>
          <a:xfrm>
            <a:off x="3528144" y="395811"/>
            <a:ext cx="5040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600" b="1" dirty="0">
                <a:solidFill>
                  <a:srgbClr val="FF0000"/>
                </a:solidFill>
              </a:rPr>
              <a:t>OUTPUT: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0E0AB6-0025-B3BA-E72A-49E4E967C6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15" y="1475581"/>
            <a:ext cx="9360793" cy="518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3676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C76BE3-836B-B772-6CEB-57C12F6A8F9F}"/>
              </a:ext>
            </a:extLst>
          </p:cNvPr>
          <p:cNvSpPr txBox="1"/>
          <p:nvPr/>
        </p:nvSpPr>
        <p:spPr>
          <a:xfrm>
            <a:off x="3528144" y="395811"/>
            <a:ext cx="5040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600" b="1" dirty="0">
                <a:solidFill>
                  <a:srgbClr val="FF0000"/>
                </a:solidFill>
              </a:rPr>
              <a:t>OUTPUT: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EBD9D2-3ECB-F672-104A-63E6F029D8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143" y="1536277"/>
            <a:ext cx="4464497" cy="5620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FDD78E-5685-D2C8-2A0C-6C85985A16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602" y="1536277"/>
            <a:ext cx="4467880" cy="56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4046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37C210-7982-5C2E-5125-C09478F77EC5}"/>
              </a:ext>
            </a:extLst>
          </p:cNvPr>
          <p:cNvSpPr txBox="1"/>
          <p:nvPr/>
        </p:nvSpPr>
        <p:spPr>
          <a:xfrm>
            <a:off x="3528144" y="363036"/>
            <a:ext cx="5040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600" b="1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9880E3F-B96F-E1D9-A76D-3A3325A5E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816" y="1835621"/>
            <a:ext cx="8568952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The </a:t>
            </a:r>
            <a:r>
              <a:rPr lang="en-US" b="1" dirty="0" err="1"/>
              <a:t>Quickblog</a:t>
            </a:r>
            <a:r>
              <a:rPr lang="en-US" dirty="0"/>
              <a:t> system offers a modern, efficient, and scalable solution for managing and publishing blogs. By integrating </a:t>
            </a:r>
            <a:r>
              <a:rPr lang="en-US" b="1" dirty="0"/>
              <a:t>AI-powered content generation</a:t>
            </a:r>
            <a:r>
              <a:rPr lang="en-US" dirty="0"/>
              <a:t>, </a:t>
            </a:r>
            <a:r>
              <a:rPr lang="en-US" b="1" dirty="0"/>
              <a:t>secure authentication</a:t>
            </a:r>
            <a:r>
              <a:rPr lang="en-US" dirty="0"/>
              <a:t>, and </a:t>
            </a:r>
            <a:r>
              <a:rPr lang="en-US" b="1" dirty="0"/>
              <a:t>optimized image handling</a:t>
            </a:r>
            <a:r>
              <a:rPr lang="en-US" dirty="0"/>
              <a:t>, it simplifies content creation while ensuring performance and reliability. Built using the </a:t>
            </a:r>
            <a:r>
              <a:rPr lang="en-US" b="1" dirty="0"/>
              <a:t>MERN stack</a:t>
            </a:r>
            <a:r>
              <a:rPr lang="en-US" dirty="0"/>
              <a:t> and deployed on </a:t>
            </a:r>
            <a:r>
              <a:rPr lang="en-US" b="1" dirty="0" err="1"/>
              <a:t>Vercel</a:t>
            </a:r>
            <a:r>
              <a:rPr lang="en-US" dirty="0"/>
              <a:t> with </a:t>
            </a:r>
            <a:r>
              <a:rPr lang="en-US" b="1" dirty="0"/>
              <a:t>MongoDB Atlas</a:t>
            </a:r>
            <a:r>
              <a:rPr lang="en-US" dirty="0"/>
              <a:t>, the platform provides seamless access and smooth user interaction.</a:t>
            </a:r>
          </a:p>
          <a:p>
            <a:r>
              <a:rPr lang="en-US" dirty="0"/>
              <a:t>This project enhances productivity, reduces manual effort, and leverages automation to improve content quality. With its cloud-based, data-driven design, </a:t>
            </a:r>
            <a:r>
              <a:rPr lang="en-US" dirty="0" err="1"/>
              <a:t>Quickblog</a:t>
            </a:r>
            <a:r>
              <a:rPr lang="en-US" dirty="0"/>
              <a:t> lays a strong foundation for future enhancements in personalization, analytics, and intelligent content management.</a:t>
            </a:r>
          </a:p>
        </p:txBody>
      </p:sp>
    </p:spTree>
    <p:extLst>
      <p:ext uri="{BB962C8B-B14F-4D97-AF65-F5344CB8AC3E}">
        <p14:creationId xmlns:p14="http://schemas.microsoft.com/office/powerpoint/2010/main" val="4421176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1B8A68-A21B-2A18-4C72-D186CEE33970}"/>
              </a:ext>
            </a:extLst>
          </p:cNvPr>
          <p:cNvSpPr txBox="1"/>
          <p:nvPr/>
        </p:nvSpPr>
        <p:spPr>
          <a:xfrm>
            <a:off x="3456136" y="395461"/>
            <a:ext cx="5040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600" b="1" dirty="0">
                <a:solidFill>
                  <a:srgbClr val="FF0000"/>
                </a:solidFill>
              </a:rPr>
              <a:t>Future Scope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61AD45-82A9-2078-270D-E66E5CEC5909}"/>
              </a:ext>
            </a:extLst>
          </p:cNvPr>
          <p:cNvSpPr txBox="1"/>
          <p:nvPr/>
        </p:nvSpPr>
        <p:spPr>
          <a:xfrm>
            <a:off x="359792" y="1475581"/>
            <a:ext cx="892899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Future Improvements for Inventory Management System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AI-Powered Content: Enhance blog generation with smarter AI to create posts, summaries, and personalized recommendations.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Mobile App Development: Build dedicated mobile applications for easy access, reading, and content management on the go.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Analytics &amp; Insights: Add dashboards for tracking blog performance, user engagement, and comment trends to support data-driven decisions.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Category &amp; Tag Expansion: Introduce dynamic categories, tags, and trending topics for better organization and content discovery.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Enhanced Security &amp; Moderation: Implement stronger authentication, spam detection, and AI-assisted comment moderation.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Social Media Integration: Enable seamless sharing and cross-posting to social platforms to boost reach and engagement.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59713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E4A77F-B2B3-99DC-04B7-C326DD5DC3B4}"/>
              </a:ext>
            </a:extLst>
          </p:cNvPr>
          <p:cNvSpPr txBox="1"/>
          <p:nvPr/>
        </p:nvSpPr>
        <p:spPr>
          <a:xfrm>
            <a:off x="2304008" y="2771725"/>
            <a:ext cx="698477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dirty="0">
                <a:solidFill>
                  <a:srgbClr val="C0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5851692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31169</TotalTime>
  <Words>1682</Words>
  <Application>Microsoft Office PowerPoint</Application>
  <PresentationFormat>Custom</PresentationFormat>
  <Paragraphs>98</Paragraphs>
  <Slides>21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MS Mincho</vt:lpstr>
      <vt:lpstr>Arial</vt:lpstr>
      <vt:lpstr>Cambria</vt:lpstr>
      <vt:lpstr>Helvetica</vt:lpstr>
      <vt:lpstr>StarBats</vt:lpstr>
      <vt:lpstr>Times</vt:lpstr>
      <vt:lpstr>Times New Roman</vt:lpstr>
      <vt:lpstr>Default Design</vt:lpstr>
      <vt:lpstr>PowerPoint Presentation</vt:lpstr>
      <vt:lpstr>PowerPoint Presentation</vt:lpstr>
      <vt:lpstr>PowerPoint Presentation</vt:lpstr>
      <vt:lpstr>Company Details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lakshya</dc:creator>
  <cp:lastModifiedBy>dev kataria</cp:lastModifiedBy>
  <cp:revision>64</cp:revision>
  <dcterms:created xsi:type="dcterms:W3CDTF">2002-10-10T16:43:00Z</dcterms:created>
  <dcterms:modified xsi:type="dcterms:W3CDTF">2025-10-13T19:49:08Z</dcterms:modified>
</cp:coreProperties>
</file>