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25"/>
  </p:notesMasterIdLst>
  <p:handoutMasterIdLst>
    <p:handoutMasterId r:id="rId26"/>
  </p:handoutMasterIdLst>
  <p:sldIdLst>
    <p:sldId id="292" r:id="rId2"/>
    <p:sldId id="291" r:id="rId3"/>
    <p:sldId id="315" r:id="rId4"/>
    <p:sldId id="316" r:id="rId5"/>
    <p:sldId id="343" r:id="rId6"/>
    <p:sldId id="344" r:id="rId7"/>
    <p:sldId id="355" r:id="rId8"/>
    <p:sldId id="356" r:id="rId9"/>
    <p:sldId id="346" r:id="rId10"/>
    <p:sldId id="357" r:id="rId11"/>
    <p:sldId id="351" r:id="rId12"/>
    <p:sldId id="347" r:id="rId13"/>
    <p:sldId id="358" r:id="rId14"/>
    <p:sldId id="361" r:id="rId15"/>
    <p:sldId id="359" r:id="rId16"/>
    <p:sldId id="360" r:id="rId17"/>
    <p:sldId id="364" r:id="rId18"/>
    <p:sldId id="362" r:id="rId19"/>
    <p:sldId id="363" r:id="rId20"/>
    <p:sldId id="348" r:id="rId21"/>
    <p:sldId id="349" r:id="rId22"/>
    <p:sldId id="350" r:id="rId23"/>
    <p:sldId id="341" r:id="rId24"/>
  </p:sldIdLst>
  <p:sldSz cx="10080625" cy="7559675"/>
  <p:notesSz cx="7772400" cy="10025063"/>
  <p:defaultTextStyle>
    <a:defPPr>
      <a:defRPr lang="en-GB"/>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55A6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113" autoAdjust="0"/>
    <p:restoredTop sz="90929"/>
  </p:normalViewPr>
  <p:slideViewPr>
    <p:cSldViewPr>
      <p:cViewPr varScale="1">
        <p:scale>
          <a:sx n="84" d="100"/>
          <a:sy n="84" d="100"/>
        </p:scale>
        <p:origin x="931" y="86"/>
      </p:cViewPr>
      <p:guideLst>
        <p:guide orient="horz" pos="2160"/>
        <p:guide pos="2880"/>
      </p:guideLst>
    </p:cSldViewPr>
  </p:slideViewPr>
  <p:outlineViewPr>
    <p:cViewPr varScale="1">
      <p:scale>
        <a:sx n="170" d="200"/>
        <a:sy n="170" d="200"/>
      </p:scale>
      <p:origin x="-780" y="-84"/>
    </p:cViewPr>
  </p:outlineViewPr>
  <p:notesTextViewPr>
    <p:cViewPr>
      <p:scale>
        <a:sx n="100" d="100"/>
        <a:sy n="100" d="100"/>
      </p:scale>
      <p:origin x="0" y="0"/>
    </p:cViewPr>
  </p:notesTextViewPr>
  <p:notesViewPr>
    <p:cSldViewPr>
      <p:cViewPr varScale="1">
        <p:scale>
          <a:sx n="59" d="100"/>
          <a:sy n="59" d="100"/>
        </p:scale>
        <p:origin x="-175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675" cy="50165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4402138" y="0"/>
            <a:ext cx="3368675" cy="501650"/>
          </a:xfrm>
          <a:prstGeom prst="rect">
            <a:avLst/>
          </a:prstGeom>
        </p:spPr>
        <p:txBody>
          <a:bodyPr vert="horz" lIns="91440" tIns="45720" rIns="91440" bIns="45720" rtlCol="0"/>
          <a:lstStyle>
            <a:lvl1pPr algn="r">
              <a:defRPr sz="1200"/>
            </a:lvl1pPr>
          </a:lstStyle>
          <a:p>
            <a:fld id="{9805B0B3-166E-4B00-A93A-02396BF50277}" type="datetimeFigureOut">
              <a:rPr lang="en-US" smtClean="0"/>
              <a:pPr/>
              <a:t>12/1/2025</a:t>
            </a:fld>
            <a:endParaRPr lang="en-US"/>
          </a:p>
        </p:txBody>
      </p:sp>
      <p:sp>
        <p:nvSpPr>
          <p:cNvPr id="4" name="Footer Placeholder 3"/>
          <p:cNvSpPr>
            <a:spLocks noGrp="1"/>
          </p:cNvSpPr>
          <p:nvPr>
            <p:ph type="ftr" sz="quarter" idx="2"/>
          </p:nvPr>
        </p:nvSpPr>
        <p:spPr>
          <a:xfrm>
            <a:off x="0" y="9521825"/>
            <a:ext cx="3368675" cy="50165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4402138" y="9521825"/>
            <a:ext cx="3368675" cy="501650"/>
          </a:xfrm>
          <a:prstGeom prst="rect">
            <a:avLst/>
          </a:prstGeom>
        </p:spPr>
        <p:txBody>
          <a:bodyPr vert="horz" lIns="91440" tIns="45720" rIns="91440" bIns="45720" rtlCol="0" anchor="b"/>
          <a:lstStyle>
            <a:lvl1pPr algn="r">
              <a:defRPr sz="1200"/>
            </a:lvl1pPr>
          </a:lstStyle>
          <a:p>
            <a:fld id="{D066ED77-972E-49B8-AD19-70195E733580}" type="slidenum">
              <a:rPr lang="en-US" smtClean="0"/>
              <a:pPr/>
              <a:t>‹#›</a:t>
            </a:fld>
            <a:endParaRPr lang="en-US"/>
          </a:p>
        </p:txBody>
      </p:sp>
    </p:spTree>
    <p:extLst>
      <p:ext uri="{BB962C8B-B14F-4D97-AF65-F5344CB8AC3E}">
        <p14:creationId xmlns:p14="http://schemas.microsoft.com/office/powerpoint/2010/main" val="271635420"/>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8" name="Rectangle 1"/>
          <p:cNvSpPr>
            <a:spLocks noGrp="1" noRot="1" noChangeAspect="1" noChangeArrowheads="1"/>
          </p:cNvSpPr>
          <p:nvPr>
            <p:ph type="sldImg"/>
          </p:nvPr>
        </p:nvSpPr>
        <p:spPr bwMode="auto">
          <a:xfrm>
            <a:off x="1597025" y="1004888"/>
            <a:ext cx="4576763" cy="3432175"/>
          </a:xfrm>
          <a:prstGeom prst="rect">
            <a:avLst/>
          </a:prstGeom>
          <a:solidFill>
            <a:srgbClr val="FFFFFF"/>
          </a:solidFill>
          <a:ln w="9525">
            <a:noFill/>
            <a:miter lim="800000"/>
            <a:headEnd/>
            <a:tailEnd/>
          </a:ln>
        </p:spPr>
      </p:sp>
      <p:sp>
        <p:nvSpPr>
          <p:cNvPr id="2050" name="Rectangle 2"/>
          <p:cNvSpPr txBox="1">
            <a:spLocks noGrp="1" noChangeArrowheads="1"/>
          </p:cNvSpPr>
          <p:nvPr>
            <p:ph type="body" idx="1"/>
          </p:nvPr>
        </p:nvSpPr>
        <p:spPr bwMode="auto">
          <a:xfrm>
            <a:off x="1185863" y="4772025"/>
            <a:ext cx="5405437" cy="38100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endParaRPr lang="en-US" noProof="0"/>
          </a:p>
        </p:txBody>
      </p:sp>
    </p:spTree>
    <p:extLst>
      <p:ext uri="{BB962C8B-B14F-4D97-AF65-F5344CB8AC3E}">
        <p14:creationId xmlns:p14="http://schemas.microsoft.com/office/powerpoint/2010/main" val="2561480188"/>
      </p:ext>
    </p:extLst>
  </p:cSld>
  <p:clrMap bg1="lt1" tx1="dk1" bg2="lt2" tx2="dk2" accent1="accent1" accent2="accent2" accent3="accent3" accent4="accent4" accent5="accent5" accent6="accent6" hlink="hlink" folHlink="folHlink"/>
  <p:hf sldNum="0" hdr="0" ftr="0" dt="0"/>
  <p:notesStyle>
    <a:lvl1pPr algn="l" defTabSz="457200"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8" charset="0"/>
        <a:ea typeface="+mn-ea"/>
        <a:cs typeface="+mn-cs"/>
      </a:defRPr>
    </a:lvl1pPr>
    <a:lvl2pPr marL="742950" indent="-285750" algn="l" defTabSz="457200"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8" charset="0"/>
        <a:ea typeface="+mn-ea"/>
        <a:cs typeface="+mn-cs"/>
      </a:defRPr>
    </a:lvl2pPr>
    <a:lvl3pPr marL="1143000" indent="-228600" algn="l" defTabSz="457200"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8" charset="0"/>
        <a:ea typeface="+mn-ea"/>
        <a:cs typeface="+mn-cs"/>
      </a:defRPr>
    </a:lvl3pPr>
    <a:lvl4pPr marL="1600200" indent="-228600" algn="l" defTabSz="457200"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8" charset="0"/>
        <a:ea typeface="+mn-ea"/>
        <a:cs typeface="+mn-cs"/>
      </a:defRPr>
    </a:lvl4pPr>
    <a:lvl5pPr marL="2057400" indent="-228600" algn="l" defTabSz="457200"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Image Placeholder 1"/>
          <p:cNvSpPr>
            <a:spLocks noGrp="1" noRot="1" noChangeAspect="1" noTextEdit="1"/>
          </p:cNvSpPr>
          <p:nvPr>
            <p:ph type="sldImg"/>
          </p:nvPr>
        </p:nvSpPr>
        <p:spPr/>
      </p:sp>
      <p:sp>
        <p:nvSpPr>
          <p:cNvPr id="5123" name="Notes Placeholder 2"/>
          <p:cNvSpPr txBox="1">
            <a:spLocks noGrp="1"/>
          </p:cNvSpPr>
          <p:nvPr>
            <p:ph type="body" idx="1"/>
          </p:nvPr>
        </p:nvSpPr>
        <p:spPr>
          <a:noFill/>
          <a:ln/>
        </p:spPr>
        <p:txBody>
          <a:bodyPr/>
          <a:lstStyle/>
          <a:p>
            <a:endParaRPr lang="en-IN"/>
          </a:p>
        </p:txBody>
      </p:sp>
      <p:sp>
        <p:nvSpPr>
          <p:cNvPr id="5125" name="Header Placeholder 4"/>
          <p:cNvSpPr>
            <a:spLocks noGrp="1"/>
          </p:cNvSpPr>
          <p:nvPr>
            <p:ph type="hdr" sz="quarter" idx="4294967295"/>
          </p:nvPr>
        </p:nvSpPr>
        <p:spPr bwMode="auto">
          <a:xfrm>
            <a:off x="0" y="0"/>
            <a:ext cx="3368675" cy="501650"/>
          </a:xfrm>
          <a:prstGeom prst="rect">
            <a:avLst/>
          </a:prstGeom>
          <a:noFill/>
          <a:ln>
            <a:miter lim="800000"/>
            <a:headEnd/>
            <a:tailEnd/>
          </a:ln>
        </p:spPr>
        <p:txBody>
          <a:bodyPr lIns="101700" tIns="50850" rIns="101700" bIns="50850"/>
          <a:lstStyle/>
          <a:p>
            <a:endParaRPr lang="en-IN"/>
          </a:p>
        </p:txBody>
      </p:sp>
      <p:sp>
        <p:nvSpPr>
          <p:cNvPr id="5126" name="Footer Placeholder 5"/>
          <p:cNvSpPr>
            <a:spLocks noGrp="1"/>
          </p:cNvSpPr>
          <p:nvPr>
            <p:ph type="ftr" sz="quarter" idx="4294967295"/>
          </p:nvPr>
        </p:nvSpPr>
        <p:spPr bwMode="auto">
          <a:xfrm>
            <a:off x="0" y="9521825"/>
            <a:ext cx="3368675" cy="501650"/>
          </a:xfrm>
          <a:prstGeom prst="rect">
            <a:avLst/>
          </a:prstGeom>
          <a:noFill/>
          <a:ln>
            <a:miter lim="800000"/>
            <a:headEnd/>
            <a:tailEnd/>
          </a:ln>
        </p:spPr>
        <p:txBody>
          <a:bodyPr lIns="101700" tIns="50850" rIns="101700" bIns="50850"/>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p:cNvSpPr>
            <a:spLocks noGrp="1" noRot="1" noChangeAspect="1" noTextEdit="1"/>
          </p:cNvSpPr>
          <p:nvPr>
            <p:ph type="sldImg"/>
          </p:nvPr>
        </p:nvSpPr>
        <p:spPr/>
      </p:sp>
      <p:sp>
        <p:nvSpPr>
          <p:cNvPr id="6147" name="Notes Placeholder 2"/>
          <p:cNvSpPr txBox="1">
            <a:spLocks noGrp="1"/>
          </p:cNvSpPr>
          <p:nvPr>
            <p:ph type="body" idx="1"/>
          </p:nvPr>
        </p:nvSpPr>
        <p:spPr>
          <a:noFill/>
          <a:ln/>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6181377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0581282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2177655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3620068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3296635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7195762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8146172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6880726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7417928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7607991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8617402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9797281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9283007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5350947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6183933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388093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029827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6060459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1266568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665282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5650" y="2347913"/>
            <a:ext cx="8569325" cy="1620837"/>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512888" y="4283075"/>
            <a:ext cx="7056437" cy="1931988"/>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04825" y="303213"/>
            <a:ext cx="9072563" cy="1258887"/>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504825" y="1763713"/>
            <a:ext cx="9072563" cy="49895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6925" y="4857750"/>
            <a:ext cx="8567738" cy="15017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96925" y="3203575"/>
            <a:ext cx="8567738" cy="1654175"/>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04825" y="303213"/>
            <a:ext cx="9072563" cy="1258887"/>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504825" y="1763713"/>
            <a:ext cx="4459288" cy="498951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16513" y="1763713"/>
            <a:ext cx="4460875" cy="498951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4825" y="303213"/>
            <a:ext cx="9072563" cy="1258887"/>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04825" y="1692275"/>
            <a:ext cx="4452938" cy="70485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04825" y="2397125"/>
            <a:ext cx="4452938" cy="4356100"/>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121275" y="1692275"/>
            <a:ext cx="4456113" cy="70485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21275" y="2397125"/>
            <a:ext cx="4456113" cy="4356100"/>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04825" y="303213"/>
            <a:ext cx="9072563" cy="1258887"/>
          </a:xfrm>
          <a:prstGeom prst="rect">
            <a:avLst/>
          </a:prstGeom>
        </p:spPr>
        <p:txBody>
          <a:bodyPr/>
          <a:lstStyle/>
          <a:p>
            <a:r>
              <a:rPr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4825" y="301625"/>
            <a:ext cx="3316288" cy="1279525"/>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941763" y="301625"/>
            <a:ext cx="5635625" cy="6451600"/>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04825" y="1581150"/>
            <a:ext cx="3316288" cy="5172075"/>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76438" y="5291138"/>
            <a:ext cx="6048375" cy="625475"/>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976438" y="674688"/>
            <a:ext cx="6048375" cy="453707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976438" y="5916613"/>
            <a:ext cx="6048375" cy="88741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504825" y="303213"/>
            <a:ext cx="9072563" cy="1258887"/>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504825" y="1763713"/>
            <a:ext cx="9072563" cy="4989512"/>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10438" y="303213"/>
            <a:ext cx="2266950" cy="6450012"/>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504825" y="303213"/>
            <a:ext cx="6653213" cy="6450012"/>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70000"/>
            <a:lum/>
          </a:blip>
          <a:srcRect/>
          <a:stretch>
            <a:fillRect l="-2000" r="-2000"/>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dt="0"/>
  <p:txStyles>
    <p:titleStyle>
      <a:lvl1pPr algn="ctr" defTabSz="457200" rtl="0" eaLnBrk="0" fontAlgn="base" hangingPunct="0">
        <a:spcBef>
          <a:spcPct val="0"/>
        </a:spcBef>
        <a:spcAft>
          <a:spcPct val="0"/>
        </a:spcAft>
        <a:buClr>
          <a:srgbClr val="000000"/>
        </a:buClr>
        <a:buSzPct val="45000"/>
        <a:buFont typeface="StarBats" charset="0"/>
        <a:defRPr sz="4400">
          <a:solidFill>
            <a:srgbClr val="000000"/>
          </a:solidFill>
          <a:latin typeface="+mj-lt"/>
          <a:ea typeface="+mj-ea"/>
          <a:cs typeface="+mj-cs"/>
        </a:defRPr>
      </a:lvl1pPr>
      <a:lvl2pPr algn="ctr" defTabSz="457200" rtl="0" eaLnBrk="0" fontAlgn="base" hangingPunct="0">
        <a:spcBef>
          <a:spcPct val="0"/>
        </a:spcBef>
        <a:spcAft>
          <a:spcPct val="0"/>
        </a:spcAft>
        <a:buClr>
          <a:srgbClr val="000000"/>
        </a:buClr>
        <a:buSzPct val="45000"/>
        <a:buFont typeface="StarBats" charset="0"/>
        <a:defRPr sz="4400">
          <a:solidFill>
            <a:srgbClr val="000000"/>
          </a:solidFill>
          <a:latin typeface="Times" pitchFamily="18" charset="0"/>
        </a:defRPr>
      </a:lvl2pPr>
      <a:lvl3pPr algn="ctr" defTabSz="457200" rtl="0" eaLnBrk="0" fontAlgn="base" hangingPunct="0">
        <a:spcBef>
          <a:spcPct val="0"/>
        </a:spcBef>
        <a:spcAft>
          <a:spcPct val="0"/>
        </a:spcAft>
        <a:buClr>
          <a:srgbClr val="000000"/>
        </a:buClr>
        <a:buSzPct val="45000"/>
        <a:buFont typeface="StarBats" charset="0"/>
        <a:defRPr sz="4400">
          <a:solidFill>
            <a:srgbClr val="000000"/>
          </a:solidFill>
          <a:latin typeface="Times" pitchFamily="18" charset="0"/>
        </a:defRPr>
      </a:lvl3pPr>
      <a:lvl4pPr algn="ctr" defTabSz="457200" rtl="0" eaLnBrk="0" fontAlgn="base" hangingPunct="0">
        <a:spcBef>
          <a:spcPct val="0"/>
        </a:spcBef>
        <a:spcAft>
          <a:spcPct val="0"/>
        </a:spcAft>
        <a:buClr>
          <a:srgbClr val="000000"/>
        </a:buClr>
        <a:buSzPct val="45000"/>
        <a:buFont typeface="StarBats" charset="0"/>
        <a:defRPr sz="4400">
          <a:solidFill>
            <a:srgbClr val="000000"/>
          </a:solidFill>
          <a:latin typeface="Times" pitchFamily="18" charset="0"/>
        </a:defRPr>
      </a:lvl4pPr>
      <a:lvl5pPr algn="ctr" defTabSz="457200" rtl="0" eaLnBrk="0" fontAlgn="base" hangingPunct="0">
        <a:spcBef>
          <a:spcPct val="0"/>
        </a:spcBef>
        <a:spcAft>
          <a:spcPct val="0"/>
        </a:spcAft>
        <a:buClr>
          <a:srgbClr val="000000"/>
        </a:buClr>
        <a:buSzPct val="45000"/>
        <a:buFont typeface="StarBats" charset="0"/>
        <a:defRPr sz="4400">
          <a:solidFill>
            <a:srgbClr val="000000"/>
          </a:solidFill>
          <a:latin typeface="Times" pitchFamily="18" charset="0"/>
        </a:defRPr>
      </a:lvl5pPr>
      <a:lvl6pPr marL="1897063" algn="l" defTabSz="457200" rtl="0" eaLnBrk="0" fontAlgn="base" hangingPunct="0">
        <a:spcBef>
          <a:spcPct val="0"/>
        </a:spcBef>
        <a:spcAft>
          <a:spcPct val="0"/>
        </a:spcAft>
        <a:buClr>
          <a:srgbClr val="000000"/>
        </a:buClr>
        <a:buSzPct val="45000"/>
        <a:buFont typeface="StarBats" charset="0"/>
        <a:defRPr sz="4400">
          <a:solidFill>
            <a:srgbClr val="000000"/>
          </a:solidFill>
          <a:latin typeface="Times New Roman" pitchFamily="18" charset="0"/>
        </a:defRPr>
      </a:lvl6pPr>
      <a:lvl7pPr marL="2354263" algn="l" defTabSz="457200" rtl="0" eaLnBrk="0" fontAlgn="base" hangingPunct="0">
        <a:spcBef>
          <a:spcPct val="0"/>
        </a:spcBef>
        <a:spcAft>
          <a:spcPct val="0"/>
        </a:spcAft>
        <a:buClr>
          <a:srgbClr val="000000"/>
        </a:buClr>
        <a:buSzPct val="45000"/>
        <a:buFont typeface="StarBats" charset="0"/>
        <a:defRPr sz="4400">
          <a:solidFill>
            <a:srgbClr val="000000"/>
          </a:solidFill>
          <a:latin typeface="Times New Roman" pitchFamily="18" charset="0"/>
        </a:defRPr>
      </a:lvl7pPr>
      <a:lvl8pPr marL="2811463" algn="l" defTabSz="457200" rtl="0" eaLnBrk="0" fontAlgn="base" hangingPunct="0">
        <a:spcBef>
          <a:spcPct val="0"/>
        </a:spcBef>
        <a:spcAft>
          <a:spcPct val="0"/>
        </a:spcAft>
        <a:buClr>
          <a:srgbClr val="000000"/>
        </a:buClr>
        <a:buSzPct val="45000"/>
        <a:buFont typeface="StarBats" charset="0"/>
        <a:defRPr sz="4400">
          <a:solidFill>
            <a:srgbClr val="000000"/>
          </a:solidFill>
          <a:latin typeface="Times New Roman" pitchFamily="18" charset="0"/>
        </a:defRPr>
      </a:lvl8pPr>
      <a:lvl9pPr marL="3268663" algn="l" defTabSz="457200" rtl="0" eaLnBrk="0" fontAlgn="base" hangingPunct="0">
        <a:spcBef>
          <a:spcPct val="0"/>
        </a:spcBef>
        <a:spcAft>
          <a:spcPct val="0"/>
        </a:spcAft>
        <a:buClr>
          <a:srgbClr val="000000"/>
        </a:buClr>
        <a:buSzPct val="45000"/>
        <a:buFont typeface="StarBats" charset="0"/>
        <a:defRPr sz="4400">
          <a:solidFill>
            <a:srgbClr val="000000"/>
          </a:solidFill>
          <a:latin typeface="Times New Roman" pitchFamily="18" charset="0"/>
        </a:defRPr>
      </a:lvl9pPr>
    </p:titleStyle>
    <p:bodyStyle>
      <a:lvl1pPr marL="431800" indent="-323850" algn="l" defTabSz="457200" rtl="0" eaLnBrk="0" fontAlgn="base" hangingPunct="0">
        <a:spcBef>
          <a:spcPct val="0"/>
        </a:spcBef>
        <a:spcAft>
          <a:spcPts val="1413"/>
        </a:spcAft>
        <a:buClr>
          <a:srgbClr val="000000"/>
        </a:buClr>
        <a:buSzPct val="45000"/>
        <a:buFont typeface="StarBats" charset="0"/>
        <a:buChar char="&quot;"/>
        <a:defRPr sz="3200">
          <a:solidFill>
            <a:srgbClr val="000000"/>
          </a:solidFill>
          <a:latin typeface="+mn-lt"/>
          <a:ea typeface="+mn-ea"/>
          <a:cs typeface="+mn-cs"/>
        </a:defRPr>
      </a:lvl1pPr>
      <a:lvl2pPr marL="863600" indent="-287338" algn="l" defTabSz="457200" rtl="0" eaLnBrk="0" fontAlgn="base" hangingPunct="0">
        <a:spcBef>
          <a:spcPct val="0"/>
        </a:spcBef>
        <a:spcAft>
          <a:spcPts val="1125"/>
        </a:spcAft>
        <a:buClr>
          <a:srgbClr val="000000"/>
        </a:buClr>
        <a:buSzPct val="75000"/>
        <a:buFont typeface="StarBats" charset="0"/>
        <a:buChar char=""/>
        <a:defRPr sz="2800">
          <a:solidFill>
            <a:srgbClr val="000000"/>
          </a:solidFill>
          <a:latin typeface="+mn-lt"/>
        </a:defRPr>
      </a:lvl2pPr>
      <a:lvl3pPr marL="1295400" indent="-215900" algn="l" defTabSz="457200" rtl="0" eaLnBrk="0" fontAlgn="base" hangingPunct="0">
        <a:spcBef>
          <a:spcPct val="0"/>
        </a:spcBef>
        <a:spcAft>
          <a:spcPts val="850"/>
        </a:spcAft>
        <a:buClr>
          <a:srgbClr val="000000"/>
        </a:buClr>
        <a:buSzPct val="45000"/>
        <a:buFont typeface="StarBats" charset="0"/>
        <a:buChar char="&quot;"/>
        <a:defRPr sz="2400">
          <a:solidFill>
            <a:srgbClr val="000000"/>
          </a:solidFill>
          <a:latin typeface="+mn-lt"/>
        </a:defRPr>
      </a:lvl3pPr>
      <a:lvl4pPr marL="1727200" indent="-215900" algn="l" defTabSz="457200" rtl="0" eaLnBrk="0" fontAlgn="base" hangingPunct="0">
        <a:spcBef>
          <a:spcPct val="0"/>
        </a:spcBef>
        <a:spcAft>
          <a:spcPts val="563"/>
        </a:spcAft>
        <a:buClr>
          <a:srgbClr val="000000"/>
        </a:buClr>
        <a:buSzPct val="75000"/>
        <a:buFont typeface="StarBats" charset="0"/>
        <a:buChar char=""/>
        <a:defRPr sz="2000">
          <a:solidFill>
            <a:srgbClr val="000000"/>
          </a:solidFill>
          <a:latin typeface="+mn-lt"/>
        </a:defRPr>
      </a:lvl4pPr>
      <a:lvl5pPr marL="2159000" indent="-215900" algn="l" defTabSz="457200" rtl="0" eaLnBrk="0" fontAlgn="base" hangingPunct="0">
        <a:spcBef>
          <a:spcPct val="0"/>
        </a:spcBef>
        <a:spcAft>
          <a:spcPts val="275"/>
        </a:spcAft>
        <a:buClr>
          <a:srgbClr val="000000"/>
        </a:buClr>
        <a:buSzPct val="45000"/>
        <a:buFont typeface="StarBats" charset="0"/>
        <a:buChar char="&quot;"/>
        <a:defRPr sz="2000">
          <a:solidFill>
            <a:srgbClr val="000000"/>
          </a:solidFill>
          <a:latin typeface="+mn-lt"/>
        </a:defRPr>
      </a:lvl5pPr>
      <a:lvl6pPr marL="2616200" indent="-215900" algn="l" defTabSz="457200" rtl="0" eaLnBrk="0" fontAlgn="base" hangingPunct="0">
        <a:spcBef>
          <a:spcPct val="0"/>
        </a:spcBef>
        <a:spcAft>
          <a:spcPts val="275"/>
        </a:spcAft>
        <a:buClr>
          <a:srgbClr val="000000"/>
        </a:buClr>
        <a:buSzPct val="45000"/>
        <a:buFont typeface="StarBats" charset="0"/>
        <a:buChar char="&quot;"/>
        <a:defRPr sz="2000">
          <a:solidFill>
            <a:srgbClr val="000000"/>
          </a:solidFill>
          <a:latin typeface="+mn-lt"/>
        </a:defRPr>
      </a:lvl6pPr>
      <a:lvl7pPr marL="3073400" indent="-215900" algn="l" defTabSz="457200" rtl="0" eaLnBrk="0" fontAlgn="base" hangingPunct="0">
        <a:spcBef>
          <a:spcPct val="0"/>
        </a:spcBef>
        <a:spcAft>
          <a:spcPts val="275"/>
        </a:spcAft>
        <a:buClr>
          <a:srgbClr val="000000"/>
        </a:buClr>
        <a:buSzPct val="45000"/>
        <a:buFont typeface="StarBats" charset="0"/>
        <a:buChar char="&quot;"/>
        <a:defRPr sz="2000">
          <a:solidFill>
            <a:srgbClr val="000000"/>
          </a:solidFill>
          <a:latin typeface="+mn-lt"/>
        </a:defRPr>
      </a:lvl7pPr>
      <a:lvl8pPr marL="3530600" indent="-215900" algn="l" defTabSz="457200" rtl="0" eaLnBrk="0" fontAlgn="base" hangingPunct="0">
        <a:spcBef>
          <a:spcPct val="0"/>
        </a:spcBef>
        <a:spcAft>
          <a:spcPts val="275"/>
        </a:spcAft>
        <a:buClr>
          <a:srgbClr val="000000"/>
        </a:buClr>
        <a:buSzPct val="45000"/>
        <a:buFont typeface="StarBats" charset="0"/>
        <a:buChar char="&quot;"/>
        <a:defRPr sz="2000">
          <a:solidFill>
            <a:srgbClr val="000000"/>
          </a:solidFill>
          <a:latin typeface="+mn-lt"/>
        </a:defRPr>
      </a:lvl8pPr>
      <a:lvl9pPr marL="3987800" indent="-215900" algn="l" defTabSz="457200" rtl="0" eaLnBrk="0" fontAlgn="base" hangingPunct="0">
        <a:spcBef>
          <a:spcPct val="0"/>
        </a:spcBef>
        <a:spcAft>
          <a:spcPts val="275"/>
        </a:spcAft>
        <a:buClr>
          <a:srgbClr val="000000"/>
        </a:buClr>
        <a:buSzPct val="45000"/>
        <a:buFont typeface="StarBats" charset="0"/>
        <a:buChar char="&quot;"/>
        <a:defRPr sz="2000">
          <a:solidFill>
            <a:srgbClr val="000000"/>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8" Type="http://schemas.openxmlformats.org/officeDocument/2006/relationships/hyperlink" Target="https://vercel.com/docs" TargetMode="External"/><Relationship Id="rId3" Type="http://schemas.openxmlformats.org/officeDocument/2006/relationships/hyperlink" Target="https://www.mongodb.com/docs/" TargetMode="External"/><Relationship Id="rId7" Type="http://schemas.openxmlformats.org/officeDocument/2006/relationships/hyperlink" Target="https://jwt.io/introduction/" TargetMode="External"/><Relationship Id="rId12" Type="http://schemas.openxmlformats.org/officeDocument/2006/relationships/hyperlink" Target="https://www.mongodb.com/cloud/atlas" TargetMode="External"/><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hyperlink" Target="https://nodejs.org/en/docs/" TargetMode="External"/><Relationship Id="rId11" Type="http://schemas.openxmlformats.org/officeDocument/2006/relationships/hyperlink" Target="https://www.npmjs.com/package/xlsx" TargetMode="External"/><Relationship Id="rId5" Type="http://schemas.openxmlformats.org/officeDocument/2006/relationships/hyperlink" Target="https://react.dev/learn" TargetMode="External"/><Relationship Id="rId10" Type="http://schemas.openxmlformats.org/officeDocument/2006/relationships/hyperlink" Target="https://www.npmjs.com/package/multer" TargetMode="External"/><Relationship Id="rId4" Type="http://schemas.openxmlformats.org/officeDocument/2006/relationships/hyperlink" Target="https://expressjs.com/en/guide.html" TargetMode="External"/><Relationship Id="rId9" Type="http://schemas.openxmlformats.org/officeDocument/2006/relationships/hyperlink" Target="https://render.com/docs"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7" name="Rectangle 7"/>
          <p:cNvSpPr>
            <a:spLocks noChangeArrowheads="1"/>
          </p:cNvSpPr>
          <p:nvPr/>
        </p:nvSpPr>
        <p:spPr bwMode="auto">
          <a:xfrm>
            <a:off x="4075057" y="5580037"/>
            <a:ext cx="4195896" cy="1512658"/>
          </a:xfrm>
          <a:prstGeom prst="rect">
            <a:avLst/>
          </a:prstGeom>
          <a:noFill/>
          <a:ln w="9525">
            <a:noFill/>
            <a:miter lim="800000"/>
            <a:headEnd/>
            <a:tailEnd/>
          </a:ln>
        </p:spPr>
        <p:txBody>
          <a:bodyPr wrap="square" lIns="0" tIns="0" rIns="0" bIns="0">
            <a:spAutoFit/>
          </a:bodyPr>
          <a:lstStyle/>
          <a:p>
            <a:pPr algn="ctr">
              <a:lnSpc>
                <a:spcPct val="150000"/>
              </a:lnSpc>
              <a:buClr>
                <a:srgbClr val="000000"/>
              </a:buClr>
              <a:buSzPct val="38000"/>
              <a:tabLst>
                <a:tab pos="723900" algn="l"/>
                <a:tab pos="1447800" algn="l"/>
                <a:tab pos="2171700" algn="l"/>
                <a:tab pos="2895600" algn="l"/>
                <a:tab pos="3619500" algn="l"/>
              </a:tabLst>
            </a:pPr>
            <a:r>
              <a:rPr lang="en-US" sz="1800" b="1" u="sng" dirty="0">
                <a:solidFill>
                  <a:srgbClr val="FF0000"/>
                </a:solidFill>
                <a:latin typeface="Helvetica" charset="0"/>
              </a:rPr>
              <a:t>Submitted To</a:t>
            </a:r>
            <a:r>
              <a:rPr lang="en-US" sz="2400" b="1" u="sng" dirty="0">
                <a:solidFill>
                  <a:srgbClr val="FF0000"/>
                </a:solidFill>
                <a:latin typeface="Helvetica" charset="0"/>
              </a:rPr>
              <a:t>:</a:t>
            </a:r>
          </a:p>
          <a:p>
            <a:pPr algn="ctr">
              <a:lnSpc>
                <a:spcPct val="150000"/>
              </a:lnSpc>
              <a:buClr>
                <a:srgbClr val="000000"/>
              </a:buClr>
              <a:buSzPct val="38000"/>
              <a:tabLst>
                <a:tab pos="723900" algn="l"/>
                <a:tab pos="1447800" algn="l"/>
                <a:tab pos="2171700" algn="l"/>
                <a:tab pos="2895600" algn="l"/>
                <a:tab pos="3619500" algn="l"/>
              </a:tabLst>
            </a:pPr>
            <a:r>
              <a:rPr lang="en-US" sz="2400" b="1" dirty="0">
                <a:solidFill>
                  <a:srgbClr val="FF0000"/>
                </a:solidFill>
              </a:rPr>
              <a:t>Mr. Piyush Gauta</a:t>
            </a:r>
            <a:r>
              <a:rPr lang="en-US" b="1" dirty="0">
                <a:solidFill>
                  <a:srgbClr val="FF0000"/>
                </a:solidFill>
              </a:rPr>
              <a:t>m</a:t>
            </a:r>
            <a:endParaRPr lang="en-US" sz="2400" b="1" dirty="0">
              <a:solidFill>
                <a:srgbClr val="FF0000"/>
              </a:solidFill>
            </a:endParaRPr>
          </a:p>
          <a:p>
            <a:pPr algn="ctr">
              <a:lnSpc>
                <a:spcPct val="150000"/>
              </a:lnSpc>
              <a:buClr>
                <a:srgbClr val="000000"/>
              </a:buClr>
              <a:buSzPct val="38000"/>
              <a:tabLst>
                <a:tab pos="723900" algn="l"/>
                <a:tab pos="1447800" algn="l"/>
                <a:tab pos="2171700" algn="l"/>
                <a:tab pos="2895600" algn="l"/>
                <a:tab pos="3619500" algn="l"/>
              </a:tabLst>
            </a:pPr>
            <a:r>
              <a:rPr lang="en-US" sz="2000" b="1" dirty="0">
                <a:solidFill>
                  <a:srgbClr val="FF0000"/>
                </a:solidFill>
                <a:latin typeface="Helvetica" charset="0"/>
              </a:rPr>
              <a:t>Industrial Training Coordinator, IT</a:t>
            </a:r>
          </a:p>
        </p:txBody>
      </p:sp>
      <p:sp>
        <p:nvSpPr>
          <p:cNvPr id="1029" name="TextBox 10"/>
          <p:cNvSpPr txBox="1">
            <a:spLocks noChangeArrowheads="1"/>
          </p:cNvSpPr>
          <p:nvPr/>
        </p:nvSpPr>
        <p:spPr bwMode="auto">
          <a:xfrm>
            <a:off x="3527437" y="3203773"/>
            <a:ext cx="5291137" cy="2156956"/>
          </a:xfrm>
          <a:prstGeom prst="rect">
            <a:avLst/>
          </a:prstGeom>
          <a:noFill/>
          <a:ln w="9525">
            <a:noFill/>
            <a:miter lim="800000"/>
            <a:headEnd/>
            <a:tailEnd/>
          </a:ln>
        </p:spPr>
        <p:txBody>
          <a:bodyPr lIns="100794" tIns="50397" rIns="100794" bIns="50397">
            <a:spAutoFit/>
          </a:bodyPr>
          <a:lstStyle/>
          <a:p>
            <a:pPr algn="ctr">
              <a:lnSpc>
                <a:spcPct val="150000"/>
              </a:lnSpc>
              <a:buClr>
                <a:srgbClr val="000000"/>
              </a:buClr>
              <a:buSzPct val="38000"/>
              <a:tabLst>
                <a:tab pos="723900" algn="l"/>
                <a:tab pos="1447800" algn="l"/>
                <a:tab pos="2171700" algn="l"/>
                <a:tab pos="2895600" algn="l"/>
                <a:tab pos="3619500" algn="l"/>
              </a:tabLst>
            </a:pPr>
            <a:r>
              <a:rPr lang="en-US" sz="2000" b="1" u="sng" dirty="0">
                <a:latin typeface="Helvetica" charset="0"/>
              </a:rPr>
              <a:t>Presented By:</a:t>
            </a:r>
          </a:p>
          <a:p>
            <a:pPr algn="ctr">
              <a:lnSpc>
                <a:spcPct val="150000"/>
              </a:lnSpc>
              <a:buClr>
                <a:srgbClr val="000000"/>
              </a:buClr>
              <a:buSzPct val="38000"/>
              <a:tabLst>
                <a:tab pos="723900" algn="l"/>
                <a:tab pos="1447800" algn="l"/>
                <a:tab pos="2171700" algn="l"/>
                <a:tab pos="2895600" algn="l"/>
                <a:tab pos="3619500" algn="l"/>
              </a:tabLst>
            </a:pPr>
            <a:r>
              <a:rPr lang="en-US" b="1" dirty="0">
                <a:latin typeface="Helvetica" charset="0"/>
              </a:rPr>
              <a:t>TUSHAR VAISHNAW</a:t>
            </a:r>
          </a:p>
          <a:p>
            <a:pPr algn="ctr">
              <a:lnSpc>
                <a:spcPct val="150000"/>
              </a:lnSpc>
              <a:buClr>
                <a:srgbClr val="000000"/>
              </a:buClr>
              <a:buSzPct val="38000"/>
              <a:tabLst>
                <a:tab pos="723900" algn="l"/>
                <a:tab pos="1447800" algn="l"/>
                <a:tab pos="2171700" algn="l"/>
                <a:tab pos="2895600" algn="l"/>
                <a:tab pos="3619500" algn="l"/>
              </a:tabLst>
            </a:pPr>
            <a:r>
              <a:rPr lang="en-US" b="1" dirty="0">
                <a:latin typeface="Helvetica" charset="0"/>
              </a:rPr>
              <a:t>22EJCIT176</a:t>
            </a:r>
          </a:p>
          <a:p>
            <a:pPr algn="ctr">
              <a:lnSpc>
                <a:spcPct val="150000"/>
              </a:lnSpc>
              <a:buClr>
                <a:srgbClr val="000000"/>
              </a:buClr>
              <a:buSzPct val="38000"/>
              <a:tabLst>
                <a:tab pos="723900" algn="l"/>
                <a:tab pos="1447800" algn="l"/>
                <a:tab pos="2171700" algn="l"/>
                <a:tab pos="2895600" algn="l"/>
                <a:tab pos="3619500" algn="l"/>
              </a:tabLst>
            </a:pPr>
            <a:r>
              <a:rPr lang="en-US" b="1" dirty="0">
                <a:latin typeface="Helvetica" charset="0"/>
              </a:rPr>
              <a:t>Information Technology/4</a:t>
            </a:r>
            <a:r>
              <a:rPr lang="en-US" b="1" baseline="30000" dirty="0">
                <a:latin typeface="Helvetica" charset="0"/>
              </a:rPr>
              <a:t>th</a:t>
            </a:r>
            <a:r>
              <a:rPr lang="en-US" b="1" dirty="0">
                <a:latin typeface="Helvetica" charset="0"/>
              </a:rPr>
              <a:t> year/C</a:t>
            </a:r>
          </a:p>
        </p:txBody>
      </p:sp>
      <p:sp>
        <p:nvSpPr>
          <p:cNvPr id="1030" name="Text Box 1"/>
          <p:cNvSpPr txBox="1">
            <a:spLocks noChangeArrowheads="1"/>
          </p:cNvSpPr>
          <p:nvPr/>
        </p:nvSpPr>
        <p:spPr bwMode="auto">
          <a:xfrm>
            <a:off x="3082417" y="1331565"/>
            <a:ext cx="6181179" cy="2215991"/>
          </a:xfrm>
          <a:prstGeom prst="rect">
            <a:avLst/>
          </a:prstGeom>
          <a:noFill/>
          <a:ln w="9525">
            <a:noFill/>
            <a:miter lim="800000"/>
            <a:headEnd/>
            <a:tailEnd/>
          </a:ln>
        </p:spPr>
        <p:txBody>
          <a:bodyPr wrap="none" lIns="0" tIns="0" rIns="0" bIns="0">
            <a:spAutoFit/>
          </a:bodyPr>
          <a:lstStyle/>
          <a:p>
            <a:pPr algn="ctr">
              <a:buClr>
                <a:srgbClr val="000000"/>
              </a:buClr>
              <a:buSzPct val="38000"/>
              <a:buFont typeface="StarBats" charset="0"/>
              <a:buNone/>
              <a:tabLst>
                <a:tab pos="723900" algn="l"/>
                <a:tab pos="1447800" algn="l"/>
                <a:tab pos="2171700" algn="l"/>
                <a:tab pos="2895600" algn="l"/>
                <a:tab pos="3619500" algn="l"/>
              </a:tabLst>
            </a:pPr>
            <a:r>
              <a:rPr lang="en-GB" sz="3600" b="1" dirty="0">
                <a:solidFill>
                  <a:srgbClr val="FF0000"/>
                </a:solidFill>
                <a:latin typeface="Helvetica" charset="0"/>
              </a:rPr>
              <a:t>Industrial Training Seminar</a:t>
            </a:r>
          </a:p>
          <a:p>
            <a:pPr algn="ctr">
              <a:buClr>
                <a:srgbClr val="000000"/>
              </a:buClr>
              <a:buSzPct val="38000"/>
              <a:buFont typeface="StarBats" charset="0"/>
              <a:buNone/>
              <a:tabLst>
                <a:tab pos="723900" algn="l"/>
                <a:tab pos="1447800" algn="l"/>
                <a:tab pos="2171700" algn="l"/>
                <a:tab pos="2895600" algn="l"/>
                <a:tab pos="3619500" algn="l"/>
              </a:tabLst>
            </a:pPr>
            <a:r>
              <a:rPr lang="en-GB" sz="3600" b="1" dirty="0">
                <a:solidFill>
                  <a:srgbClr val="FF0000"/>
                </a:solidFill>
                <a:latin typeface="Helvetica" charset="0"/>
              </a:rPr>
              <a:t>on </a:t>
            </a:r>
          </a:p>
          <a:p>
            <a:pPr algn="ctr">
              <a:buClr>
                <a:srgbClr val="000000"/>
              </a:buClr>
              <a:buSzPct val="38000"/>
              <a:tabLst>
                <a:tab pos="723900" algn="l"/>
                <a:tab pos="1447800" algn="l"/>
                <a:tab pos="2171700" algn="l"/>
                <a:tab pos="2895600" algn="l"/>
                <a:tab pos="3619500" algn="l"/>
              </a:tabLst>
            </a:pPr>
            <a:r>
              <a:rPr lang="en-US" sz="36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Inventory Management System</a:t>
            </a:r>
            <a:endParaRPr lang="en-CA" sz="1800" dirty="0">
              <a:solidFill>
                <a:srgbClr val="FF0000"/>
              </a:solidFill>
              <a:effectLst/>
              <a:latin typeface="Cambria" panose="02040503050406030204" pitchFamily="18" charset="0"/>
              <a:ea typeface="MS Mincho" panose="02020609040205080304" pitchFamily="49" charset="-128"/>
              <a:cs typeface="Times New Roman" panose="02020603050405020304" pitchFamily="18" charset="0"/>
            </a:endParaRPr>
          </a:p>
          <a:p>
            <a:pPr algn="ctr">
              <a:buClr>
                <a:srgbClr val="000000"/>
              </a:buClr>
              <a:buSzPct val="38000"/>
              <a:buFont typeface="StarBats" charset="0"/>
              <a:buNone/>
              <a:tabLst>
                <a:tab pos="723900" algn="l"/>
                <a:tab pos="1447800" algn="l"/>
                <a:tab pos="2171700" algn="l"/>
                <a:tab pos="2895600" algn="l"/>
                <a:tab pos="3619500" algn="l"/>
              </a:tabLst>
            </a:pPr>
            <a:endParaRPr lang="en-GB" sz="3600" b="1" dirty="0">
              <a:solidFill>
                <a:srgbClr val="FF0000"/>
              </a:solidFill>
              <a:latin typeface="Helvetica" charset="0"/>
            </a:endParaRPr>
          </a:p>
        </p:txBody>
      </p:sp>
      <p:pic>
        <p:nvPicPr>
          <p:cNvPr id="7" name="Picture 6" descr="sidebaar.png"/>
          <p:cNvPicPr>
            <a:picLocks noChangeAspect="1"/>
          </p:cNvPicPr>
          <p:nvPr/>
        </p:nvPicPr>
        <p:blipFill>
          <a:blip r:embed="rId3"/>
          <a:stretch>
            <a:fillRect/>
          </a:stretch>
        </p:blipFill>
        <p:spPr>
          <a:xfrm>
            <a:off x="0" y="0"/>
            <a:ext cx="2212819" cy="7559675"/>
          </a:xfrm>
          <a:prstGeom prst="rect">
            <a:avLst/>
          </a:prstGeom>
        </p:spPr>
      </p:pic>
    </p:spTree>
  </p:cSld>
  <p:clrMapOvr>
    <a:masterClrMapping/>
  </p:clrMapOvr>
  <p:transition spd="slow">
    <p:circle/>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6FD5E44-218A-915C-5A11-DE7A256B9546}"/>
              </a:ext>
            </a:extLst>
          </p:cNvPr>
          <p:cNvSpPr txBox="1"/>
          <p:nvPr/>
        </p:nvSpPr>
        <p:spPr>
          <a:xfrm>
            <a:off x="431800" y="1583006"/>
            <a:ext cx="7920880" cy="5509200"/>
          </a:xfrm>
          <a:prstGeom prst="rect">
            <a:avLst/>
          </a:prstGeom>
          <a:noFill/>
        </p:spPr>
        <p:txBody>
          <a:bodyPr wrap="square">
            <a:spAutoFit/>
          </a:bodyPr>
          <a:lstStyle/>
          <a:p>
            <a:pPr algn="l" rtl="0" fontAlgn="base">
              <a:spcBef>
                <a:spcPts val="0"/>
              </a:spcBef>
              <a:spcAft>
                <a:spcPts val="0"/>
              </a:spcAft>
            </a:pPr>
            <a:r>
              <a:rPr lang="en-US" sz="3200" b="1" i="0" dirty="0">
                <a:effectLst/>
                <a:latin typeface="Arial" panose="020B0604020202020204" pitchFamily="34" charset="0"/>
              </a:rPr>
              <a:t>1. Introduction/Abstract</a:t>
            </a:r>
            <a:br>
              <a:rPr lang="en-US" sz="3200" b="1" i="0" dirty="0">
                <a:effectLst/>
                <a:latin typeface="Arial" panose="020B0604020202020204" pitchFamily="34" charset="0"/>
              </a:rPr>
            </a:br>
            <a:r>
              <a:rPr lang="en-US" sz="3200" b="1" i="0" dirty="0">
                <a:effectLst/>
                <a:latin typeface="Arial" panose="020B0604020202020204" pitchFamily="34" charset="0"/>
              </a:rPr>
              <a:t>2. Company/Organization details</a:t>
            </a:r>
            <a:br>
              <a:rPr lang="en-US" sz="3200" b="1" i="0" dirty="0">
                <a:effectLst/>
                <a:latin typeface="Arial" panose="020B0604020202020204" pitchFamily="34" charset="0"/>
              </a:rPr>
            </a:br>
            <a:r>
              <a:rPr lang="en-US" sz="3200" b="1" i="0" dirty="0">
                <a:effectLst/>
                <a:latin typeface="Arial" panose="020B0604020202020204" pitchFamily="34" charset="0"/>
              </a:rPr>
              <a:t>3. Certificate</a:t>
            </a:r>
            <a:br>
              <a:rPr lang="en-US" sz="3200" b="1" i="0" dirty="0">
                <a:effectLst/>
                <a:latin typeface="Arial" panose="020B0604020202020204" pitchFamily="34" charset="0"/>
              </a:rPr>
            </a:br>
            <a:r>
              <a:rPr lang="en-US" sz="3200" b="1" i="0" dirty="0">
                <a:effectLst/>
                <a:latin typeface="Arial" panose="020B0604020202020204" pitchFamily="34" charset="0"/>
              </a:rPr>
              <a:t>4. Technology Name-Detailed  Description</a:t>
            </a:r>
            <a:br>
              <a:rPr lang="en-US" sz="3200" b="1" i="0" dirty="0">
                <a:effectLst/>
                <a:latin typeface="Arial" panose="020B0604020202020204" pitchFamily="34" charset="0"/>
              </a:rPr>
            </a:br>
            <a:r>
              <a:rPr lang="en-US" sz="3200" b="1" i="0" dirty="0">
                <a:effectLst/>
                <a:latin typeface="Arial" panose="020B0604020202020204" pitchFamily="34" charset="0"/>
              </a:rPr>
              <a:t>5. Project Description</a:t>
            </a:r>
            <a:br>
              <a:rPr lang="en-US" sz="3200" b="1" i="0" dirty="0">
                <a:effectLst/>
                <a:latin typeface="Arial" panose="020B0604020202020204" pitchFamily="34" charset="0"/>
              </a:rPr>
            </a:br>
            <a:r>
              <a:rPr lang="en-US" sz="3200" b="1" i="0" dirty="0">
                <a:effectLst/>
                <a:latin typeface="Arial" panose="020B0604020202020204" pitchFamily="34" charset="0"/>
              </a:rPr>
              <a:t>6. Screenshots of Project</a:t>
            </a:r>
            <a:br>
              <a:rPr lang="en-US" sz="3200" b="1" i="0" dirty="0">
                <a:effectLst/>
                <a:latin typeface="Arial" panose="020B0604020202020204" pitchFamily="34" charset="0"/>
              </a:rPr>
            </a:br>
            <a:r>
              <a:rPr lang="en-US" sz="3200" b="1" i="0" dirty="0">
                <a:effectLst/>
                <a:latin typeface="Arial" panose="020B0604020202020204" pitchFamily="34" charset="0"/>
              </a:rPr>
              <a:t>7. Conclusion</a:t>
            </a:r>
            <a:br>
              <a:rPr lang="en-US" sz="3200" b="1" i="0" dirty="0">
                <a:effectLst/>
                <a:latin typeface="Arial" panose="020B0604020202020204" pitchFamily="34" charset="0"/>
              </a:rPr>
            </a:br>
            <a:r>
              <a:rPr lang="en-US" sz="3200" b="1" i="0" dirty="0">
                <a:effectLst/>
                <a:latin typeface="Arial" panose="020B0604020202020204" pitchFamily="34" charset="0"/>
              </a:rPr>
              <a:t>8. Future Scope</a:t>
            </a:r>
          </a:p>
          <a:p>
            <a:pPr algn="l" rtl="0" fontAlgn="base">
              <a:spcBef>
                <a:spcPts val="0"/>
              </a:spcBef>
              <a:spcAft>
                <a:spcPts val="0"/>
              </a:spcAft>
            </a:pPr>
            <a:r>
              <a:rPr lang="en-US" sz="3200" b="1" dirty="0">
                <a:latin typeface="Arial" panose="020B0604020202020204" pitchFamily="34" charset="0"/>
              </a:rPr>
              <a:t>9</a:t>
            </a:r>
            <a:r>
              <a:rPr lang="en-US" sz="3200" b="1" i="0" dirty="0">
                <a:effectLst/>
                <a:latin typeface="Arial" panose="020B0604020202020204" pitchFamily="34" charset="0"/>
              </a:rPr>
              <a:t>. References</a:t>
            </a:r>
            <a:br>
              <a:rPr lang="en-US" sz="3200" b="1" i="0" dirty="0">
                <a:effectLst/>
                <a:latin typeface="Arial" panose="020B0604020202020204" pitchFamily="34" charset="0"/>
              </a:rPr>
            </a:br>
            <a:endParaRPr lang="en-US" sz="3200" b="1" i="0" dirty="0">
              <a:effectLst/>
              <a:latin typeface="Arial" panose="020B0604020202020204" pitchFamily="34" charset="0"/>
            </a:endParaRPr>
          </a:p>
        </p:txBody>
      </p:sp>
      <p:sp>
        <p:nvSpPr>
          <p:cNvPr id="5" name="TextBox 4">
            <a:extLst>
              <a:ext uri="{FF2B5EF4-FFF2-40B4-BE49-F238E27FC236}">
                <a16:creationId xmlns:a16="http://schemas.microsoft.com/office/drawing/2014/main" id="{5B36D36D-2B4C-5512-72F1-EEF60EF4272A}"/>
              </a:ext>
            </a:extLst>
          </p:cNvPr>
          <p:cNvSpPr txBox="1"/>
          <p:nvPr/>
        </p:nvSpPr>
        <p:spPr>
          <a:xfrm>
            <a:off x="3672160" y="467469"/>
            <a:ext cx="5040488" cy="646331"/>
          </a:xfrm>
          <a:prstGeom prst="rect">
            <a:avLst/>
          </a:prstGeom>
          <a:noFill/>
        </p:spPr>
        <p:txBody>
          <a:bodyPr wrap="square">
            <a:spAutoFit/>
          </a:bodyPr>
          <a:lstStyle/>
          <a:p>
            <a:r>
              <a:rPr lang="en-GB" sz="3600" b="1" dirty="0">
                <a:solidFill>
                  <a:srgbClr val="FF0000"/>
                </a:solidFill>
              </a:rPr>
              <a:t>Contents</a:t>
            </a:r>
            <a:endParaRPr lang="en-CA" sz="3600" b="1" dirty="0">
              <a:solidFill>
                <a:srgbClr val="FF0000"/>
              </a:solidFill>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D3C1BCB-8FFB-C4CF-AAF8-70E3AB7AC00D}"/>
              </a:ext>
            </a:extLst>
          </p:cNvPr>
          <p:cNvSpPr txBox="1"/>
          <p:nvPr/>
        </p:nvSpPr>
        <p:spPr>
          <a:xfrm>
            <a:off x="2087984" y="467469"/>
            <a:ext cx="5040488" cy="646331"/>
          </a:xfrm>
          <a:prstGeom prst="rect">
            <a:avLst/>
          </a:prstGeom>
          <a:noFill/>
        </p:spPr>
        <p:txBody>
          <a:bodyPr wrap="square">
            <a:spAutoFit/>
          </a:bodyPr>
          <a:lstStyle/>
          <a:p>
            <a:pPr marL="0" marR="0" lvl="0" indent="0" algn="ctr" defTabSz="457200" rtl="0" eaLnBrk="0" fontAlgn="base" latinLnBrk="0" hangingPunct="0">
              <a:lnSpc>
                <a:spcPct val="100000"/>
              </a:lnSpc>
              <a:spcBef>
                <a:spcPct val="0"/>
              </a:spcBef>
              <a:spcAft>
                <a:spcPct val="0"/>
              </a:spcAft>
              <a:buClr>
                <a:srgbClr val="000000"/>
              </a:buClr>
              <a:buSzPct val="45000"/>
              <a:buFont typeface="StarBats" charset="0"/>
              <a:buNone/>
              <a:tabLst/>
              <a:defRPr/>
            </a:pPr>
            <a:r>
              <a:rPr kumimoji="0" lang="en-US" sz="3600" b="1" i="0" u="none" strike="noStrike" kern="0" cap="none" spc="0" normalizeH="0" baseline="0" noProof="0" dirty="0">
                <a:ln>
                  <a:noFill/>
                </a:ln>
                <a:solidFill>
                  <a:srgbClr val="FF0000"/>
                </a:solidFill>
                <a:effectLst/>
                <a:uLnTx/>
                <a:uFillTx/>
                <a:latin typeface="Times"/>
                <a:ea typeface="+mn-ea"/>
                <a:cs typeface="+mn-cs"/>
              </a:rPr>
              <a:t>Abstract</a:t>
            </a:r>
          </a:p>
        </p:txBody>
      </p:sp>
      <p:sp>
        <p:nvSpPr>
          <p:cNvPr id="4" name="TextBox 3">
            <a:extLst>
              <a:ext uri="{FF2B5EF4-FFF2-40B4-BE49-F238E27FC236}">
                <a16:creationId xmlns:a16="http://schemas.microsoft.com/office/drawing/2014/main" id="{EDBC7FA9-A135-33BA-8309-7D67F78F5781}"/>
              </a:ext>
            </a:extLst>
          </p:cNvPr>
          <p:cNvSpPr txBox="1"/>
          <p:nvPr/>
        </p:nvSpPr>
        <p:spPr>
          <a:xfrm>
            <a:off x="215776" y="1619597"/>
            <a:ext cx="9649072" cy="4893647"/>
          </a:xfrm>
          <a:prstGeom prst="rect">
            <a:avLst/>
          </a:prstGeom>
          <a:noFill/>
        </p:spPr>
        <p:txBody>
          <a:bodyPr wrap="square">
            <a:spAutoFit/>
          </a:bodyPr>
          <a:lstStyle/>
          <a:p>
            <a:r>
              <a:rPr lang="en-GB" dirty="0"/>
              <a:t>The Industrial Internship at </a:t>
            </a:r>
            <a:r>
              <a:rPr lang="en-GB" dirty="0" err="1">
                <a:solidFill>
                  <a:srgbClr val="FF0000"/>
                </a:solidFill>
              </a:rPr>
              <a:t>VeroLie</a:t>
            </a:r>
            <a:r>
              <a:rPr lang="en-GB" dirty="0">
                <a:solidFill>
                  <a:srgbClr val="FF0000"/>
                </a:solidFill>
              </a:rPr>
              <a:t> </a:t>
            </a:r>
            <a:r>
              <a:rPr lang="en-GB" dirty="0" err="1">
                <a:solidFill>
                  <a:srgbClr val="FF0000"/>
                </a:solidFill>
              </a:rPr>
              <a:t>Pvt.</a:t>
            </a:r>
            <a:r>
              <a:rPr lang="en-GB" dirty="0">
                <a:solidFill>
                  <a:srgbClr val="FF0000"/>
                </a:solidFill>
              </a:rPr>
              <a:t> Ltd.</a:t>
            </a:r>
            <a:r>
              <a:rPr lang="en-GB" dirty="0"/>
              <a:t> provided an enriching experience in </a:t>
            </a:r>
            <a:r>
              <a:rPr lang="en-GB" dirty="0">
                <a:solidFill>
                  <a:srgbClr val="FF0000"/>
                </a:solidFill>
              </a:rPr>
              <a:t>web development </a:t>
            </a:r>
            <a:r>
              <a:rPr lang="en-GB" dirty="0"/>
              <a:t>through the design and implementation of a robust </a:t>
            </a:r>
            <a:r>
              <a:rPr lang="en-GB" dirty="0">
                <a:solidFill>
                  <a:srgbClr val="FF0000"/>
                </a:solidFill>
              </a:rPr>
              <a:t>Inventory Management System</a:t>
            </a:r>
            <a:r>
              <a:rPr lang="en-GB" dirty="0"/>
              <a:t>. During this internship, I enhanced my technical expertise by developing intuitive user interfaces, implementing secure authentication mechanisms, and integrating backend services with efficient database management tailored to apparel manufacturing operations. The application enabled real-time tracking of inventory, streamlined user roles, and optimized stock management, contributing to improved operational efficiency. This hands-on project not only advanced my coding skills but also provided deep insights into the challenges of supply chain management, data integrity, and performance optimization—preparing me to build scalable and technology-driven solutions in the fast-paced apparel industry.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0101F-6C80-B6CE-756F-C646AD50320F}"/>
              </a:ext>
            </a:extLst>
          </p:cNvPr>
          <p:cNvSpPr>
            <a:spLocks noGrp="1"/>
          </p:cNvSpPr>
          <p:nvPr>
            <p:ph type="title"/>
          </p:nvPr>
        </p:nvSpPr>
        <p:spPr>
          <a:xfrm>
            <a:off x="2880072" y="439290"/>
            <a:ext cx="9072563" cy="682823"/>
          </a:xfrm>
        </p:spPr>
        <p:txBody>
          <a:bodyPr/>
          <a:lstStyle/>
          <a:p>
            <a:pPr algn="l"/>
            <a:r>
              <a:rPr lang="en-IN" sz="3600" b="1" dirty="0">
                <a:solidFill>
                  <a:srgbClr val="FF0000"/>
                </a:solidFill>
              </a:rPr>
              <a:t>Company</a:t>
            </a:r>
            <a:r>
              <a:rPr lang="en-IN" sz="3600" b="1" dirty="0"/>
              <a:t> </a:t>
            </a:r>
            <a:r>
              <a:rPr lang="en-IN" sz="3600" b="1" dirty="0">
                <a:solidFill>
                  <a:srgbClr val="FF0000"/>
                </a:solidFill>
              </a:rPr>
              <a:t>Details</a:t>
            </a:r>
            <a:endParaRPr sz="3600" b="1" dirty="0">
              <a:solidFill>
                <a:srgbClr val="FF0000"/>
              </a:solidFill>
            </a:endParaRPr>
          </a:p>
        </p:txBody>
      </p:sp>
      <p:sp>
        <p:nvSpPr>
          <p:cNvPr id="6" name="TextBox 5">
            <a:extLst>
              <a:ext uri="{FF2B5EF4-FFF2-40B4-BE49-F238E27FC236}">
                <a16:creationId xmlns:a16="http://schemas.microsoft.com/office/drawing/2014/main" id="{4D273EDE-C3DD-393E-C72B-728703579F4D}"/>
              </a:ext>
            </a:extLst>
          </p:cNvPr>
          <p:cNvSpPr txBox="1"/>
          <p:nvPr/>
        </p:nvSpPr>
        <p:spPr>
          <a:xfrm>
            <a:off x="71759" y="1475581"/>
            <a:ext cx="9937104" cy="1569660"/>
          </a:xfrm>
          <a:prstGeom prst="rect">
            <a:avLst/>
          </a:prstGeom>
          <a:noFill/>
        </p:spPr>
        <p:txBody>
          <a:bodyPr wrap="square">
            <a:spAutoFit/>
          </a:bodyPr>
          <a:lstStyle/>
          <a:p>
            <a:r>
              <a:rPr lang="en-GB" b="1" dirty="0" err="1"/>
              <a:t>VeroLie</a:t>
            </a:r>
            <a:r>
              <a:rPr lang="en-GB" b="1" dirty="0"/>
              <a:t> </a:t>
            </a:r>
            <a:r>
              <a:rPr lang="en-GB" b="1" dirty="0" err="1"/>
              <a:t>Pvt.</a:t>
            </a:r>
            <a:r>
              <a:rPr lang="en-GB" b="1" dirty="0"/>
              <a:t> Ltd.</a:t>
            </a:r>
            <a:r>
              <a:rPr lang="en-GB" dirty="0"/>
              <a:t> is a Jaipur-based clothing manufacturing company specializing in sportswear and fashion apparel. With a focus on design, quality, and sustainability, the company offers end-to-end solutions—from fabric sourcing and production to packaging and global distribution.</a:t>
            </a:r>
          </a:p>
        </p:txBody>
      </p:sp>
      <p:graphicFrame>
        <p:nvGraphicFramePr>
          <p:cNvPr id="8" name="Table 8">
            <a:extLst>
              <a:ext uri="{FF2B5EF4-FFF2-40B4-BE49-F238E27FC236}">
                <a16:creationId xmlns:a16="http://schemas.microsoft.com/office/drawing/2014/main" id="{FB809FF9-A67D-5E4B-5BB2-C0735120D192}"/>
              </a:ext>
            </a:extLst>
          </p:cNvPr>
          <p:cNvGraphicFramePr>
            <a:graphicFrameLocks noGrp="1"/>
          </p:cNvGraphicFramePr>
          <p:nvPr>
            <p:extLst>
              <p:ext uri="{D42A27DB-BD31-4B8C-83A1-F6EECF244321}">
                <p14:modId xmlns:p14="http://schemas.microsoft.com/office/powerpoint/2010/main" val="66140058"/>
              </p:ext>
            </p:extLst>
          </p:nvPr>
        </p:nvGraphicFramePr>
        <p:xfrm>
          <a:off x="204524" y="3203773"/>
          <a:ext cx="9671575" cy="4204551"/>
        </p:xfrm>
        <a:graphic>
          <a:graphicData uri="http://schemas.openxmlformats.org/drawingml/2006/table">
            <a:tbl>
              <a:tblPr firstRow="1" bandRow="1">
                <a:tableStyleId>{F5AB1C69-6EDB-4FF4-983F-18BD219EF322}</a:tableStyleId>
              </a:tblPr>
              <a:tblGrid>
                <a:gridCol w="1586285">
                  <a:extLst>
                    <a:ext uri="{9D8B030D-6E8A-4147-A177-3AD203B41FA5}">
                      <a16:colId xmlns:a16="http://schemas.microsoft.com/office/drawing/2014/main" val="2774447961"/>
                    </a:ext>
                  </a:extLst>
                </a:gridCol>
                <a:gridCol w="8085290">
                  <a:extLst>
                    <a:ext uri="{9D8B030D-6E8A-4147-A177-3AD203B41FA5}">
                      <a16:colId xmlns:a16="http://schemas.microsoft.com/office/drawing/2014/main" val="4164656727"/>
                    </a:ext>
                  </a:extLst>
                </a:gridCol>
              </a:tblGrid>
              <a:tr h="4874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Website</a:t>
                      </a:r>
                      <a:endParaRPr kumimoji="0" lang="en-IN" sz="1800" b="1"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dirty="0">
                          <a:solidFill>
                            <a:schemeClr val="tx1"/>
                          </a:solidFill>
                          <a:latin typeface="Arial" panose="020B0604020202020204" pitchFamily="34" charset="0"/>
                          <a:cs typeface="Arial" panose="020B0604020202020204" pitchFamily="34" charset="0"/>
                        </a:rPr>
                        <a:t>https://www.verolie.com/</a:t>
                      </a: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47852965"/>
                  </a:ext>
                </a:extLst>
              </a:tr>
              <a:tr h="487455">
                <a:tc>
                  <a:txBody>
                    <a:bodyPr/>
                    <a:lstStyle/>
                    <a:p>
                      <a:r>
                        <a:rPr lang="en-US" sz="1800" b="1" dirty="0">
                          <a:solidFill>
                            <a:srgbClr val="FF0000"/>
                          </a:solidFill>
                          <a:latin typeface="Arial" panose="020B0604020202020204" pitchFamily="34" charset="0"/>
                          <a:cs typeface="Arial" panose="020B0604020202020204" pitchFamily="34" charset="0"/>
                        </a:rPr>
                        <a:t>Industry</a:t>
                      </a:r>
                      <a:endParaRPr lang="en-IN" b="1" dirty="0">
                        <a:solidFill>
                          <a:srgbClr val="FF0000"/>
                        </a:solidFill>
                        <a:latin typeface="Arial" panose="020B0604020202020204" pitchFamily="34" charset="0"/>
                        <a:cs typeface="Arial" panose="020B0604020202020204" pitchFamily="34" charset="0"/>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2000" dirty="0"/>
                        <a:t>Apparel Manufacturing</a:t>
                      </a:r>
                      <a:endParaRPr lang="en-US" sz="2000" b="0" dirty="0">
                        <a:solidFill>
                          <a:schemeClr val="tx1"/>
                        </a:solidFill>
                        <a:latin typeface="Arial" panose="020B0604020202020204" pitchFamily="34" charset="0"/>
                        <a:cs typeface="Arial" panose="020B0604020202020204" pitchFamily="34" charset="0"/>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4485704"/>
                  </a:ext>
                </a:extLst>
              </a:tr>
              <a:tr h="487455">
                <a:tc>
                  <a:txBody>
                    <a:bodyPr/>
                    <a:lstStyle/>
                    <a:p>
                      <a:r>
                        <a:rPr lang="en-US" sz="1800" b="1" dirty="0">
                          <a:solidFill>
                            <a:srgbClr val="FF0000"/>
                          </a:solidFill>
                          <a:latin typeface="Arial" panose="020B0604020202020204" pitchFamily="34" charset="0"/>
                          <a:cs typeface="Arial" panose="020B0604020202020204" pitchFamily="34" charset="0"/>
                        </a:rPr>
                        <a:t>Company size</a:t>
                      </a:r>
                      <a:endParaRPr lang="en-IN" b="1" dirty="0">
                        <a:solidFill>
                          <a:srgbClr val="FF0000"/>
                        </a:solidFill>
                        <a:latin typeface="Arial" panose="020B0604020202020204" pitchFamily="34" charset="0"/>
                        <a:cs typeface="Arial" panose="020B0604020202020204" pitchFamily="34" charset="0"/>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CA" sz="2000" dirty="0"/>
                        <a:t>Micro &amp; Small Enterprise(MSE)</a:t>
                      </a: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98023988"/>
                  </a:ext>
                </a:extLst>
              </a:tr>
              <a:tr h="487455">
                <a:tc>
                  <a:txBody>
                    <a:bodyPr/>
                    <a:lstStyle/>
                    <a:p>
                      <a:r>
                        <a:rPr lang="en-US" sz="1800" b="1" dirty="0">
                          <a:solidFill>
                            <a:srgbClr val="FF0000"/>
                          </a:solidFill>
                          <a:latin typeface="Arial" panose="020B0604020202020204" pitchFamily="34" charset="0"/>
                          <a:cs typeface="Arial" panose="020B0604020202020204" pitchFamily="34" charset="0"/>
                        </a:rPr>
                        <a:t>Headquarters</a:t>
                      </a:r>
                      <a:endParaRPr lang="en-IN" b="1" dirty="0">
                        <a:solidFill>
                          <a:srgbClr val="FF0000"/>
                        </a:solidFill>
                        <a:latin typeface="Arial" panose="020B0604020202020204" pitchFamily="34" charset="0"/>
                        <a:cs typeface="Arial" panose="020B0604020202020204" pitchFamily="34" charset="0"/>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2000" dirty="0" err="1"/>
                        <a:t>Sitapura</a:t>
                      </a:r>
                      <a:r>
                        <a:rPr lang="en-CA" sz="2000" dirty="0"/>
                        <a:t>, Jaipur, Rajasthan – 302022</a:t>
                      </a:r>
                      <a:endParaRPr lang="en-US" sz="2000" b="0" dirty="0">
                        <a:latin typeface="Arial" panose="020B0604020202020204" pitchFamily="34" charset="0"/>
                        <a:cs typeface="Arial" panose="020B0604020202020204" pitchFamily="34" charset="0"/>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28457050"/>
                  </a:ext>
                </a:extLst>
              </a:tr>
              <a:tr h="487455">
                <a:tc>
                  <a:txBody>
                    <a:bodyPr/>
                    <a:lstStyle/>
                    <a:p>
                      <a:r>
                        <a:rPr lang="en-US" sz="1800" b="1" dirty="0">
                          <a:solidFill>
                            <a:srgbClr val="FF0000"/>
                          </a:solidFill>
                          <a:latin typeface="Arial" panose="020B0604020202020204" pitchFamily="34" charset="0"/>
                          <a:cs typeface="Arial" panose="020B0604020202020204" pitchFamily="34" charset="0"/>
                        </a:rPr>
                        <a:t>Type</a:t>
                      </a:r>
                      <a:endParaRPr lang="en-IN" b="1" dirty="0">
                        <a:solidFill>
                          <a:srgbClr val="FF0000"/>
                        </a:solidFill>
                        <a:latin typeface="Arial" panose="020B0604020202020204" pitchFamily="34" charset="0"/>
                        <a:cs typeface="Arial" panose="020B0604020202020204" pitchFamily="34" charset="0"/>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dirty="0">
                          <a:latin typeface="Arial" panose="020B0604020202020204" pitchFamily="34" charset="0"/>
                          <a:cs typeface="Arial" panose="020B0604020202020204" pitchFamily="34" charset="0"/>
                        </a:rPr>
                        <a:t>Privately Held</a:t>
                      </a: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7016098"/>
                  </a:ext>
                </a:extLst>
              </a:tr>
              <a:tr h="487455">
                <a:tc>
                  <a:txBody>
                    <a:bodyPr/>
                    <a:lstStyle/>
                    <a:p>
                      <a:r>
                        <a:rPr lang="en-US" sz="1800" b="1" dirty="0">
                          <a:solidFill>
                            <a:srgbClr val="FF0000"/>
                          </a:solidFill>
                          <a:latin typeface="Arial" panose="020B0604020202020204" pitchFamily="34" charset="0"/>
                          <a:cs typeface="Arial" panose="020B0604020202020204" pitchFamily="34" charset="0"/>
                        </a:rPr>
                        <a:t>Founded</a:t>
                      </a:r>
                      <a:endParaRPr lang="en-IN" b="1" dirty="0">
                        <a:solidFill>
                          <a:srgbClr val="FF0000"/>
                        </a:solidFill>
                        <a:latin typeface="Arial" panose="020B0604020202020204" pitchFamily="34" charset="0"/>
                        <a:cs typeface="Arial" panose="020B0604020202020204" pitchFamily="34" charset="0"/>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2000" dirty="0"/>
                        <a:t>September 14, 2016</a:t>
                      </a:r>
                      <a:endParaRPr lang="en-US" sz="2000" b="0" dirty="0">
                        <a:latin typeface="Arial" panose="020B0604020202020204" pitchFamily="34" charset="0"/>
                        <a:cs typeface="Arial" panose="020B0604020202020204" pitchFamily="34" charset="0"/>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67463737"/>
                  </a:ext>
                </a:extLst>
              </a:tr>
              <a:tr h="487455">
                <a:tc>
                  <a:txBody>
                    <a:bodyPr/>
                    <a:lstStyle/>
                    <a:p>
                      <a:r>
                        <a:rPr lang="en-IN" b="1" dirty="0">
                          <a:solidFill>
                            <a:srgbClr val="FF0000"/>
                          </a:solidFill>
                          <a:latin typeface="Arial" panose="020B0604020202020204" pitchFamily="34" charset="0"/>
                          <a:cs typeface="Arial" panose="020B0604020202020204" pitchFamily="34" charset="0"/>
                        </a:rPr>
                        <a:t>Founder</a:t>
                      </a: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2000" dirty="0"/>
                        <a:t>Govind Sahay Sharma</a:t>
                      </a:r>
                      <a:endParaRPr lang="en-US" sz="2000" b="0" dirty="0">
                        <a:latin typeface="Arial" panose="020B0604020202020204" pitchFamily="34" charset="0"/>
                        <a:cs typeface="Arial" panose="020B0604020202020204" pitchFamily="34" charset="0"/>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11535072"/>
                  </a:ext>
                </a:extLst>
              </a:tr>
              <a:tr h="731181">
                <a:tc>
                  <a:txBody>
                    <a:bodyPr/>
                    <a:lstStyle/>
                    <a:p>
                      <a:r>
                        <a:rPr lang="en-US" sz="1800" b="1" dirty="0">
                          <a:solidFill>
                            <a:srgbClr val="FF0000"/>
                          </a:solidFill>
                          <a:latin typeface="Arial" panose="020B0604020202020204" pitchFamily="34" charset="0"/>
                          <a:cs typeface="Arial" panose="020B0604020202020204" pitchFamily="34" charset="0"/>
                        </a:rPr>
                        <a:t>Specialties</a:t>
                      </a:r>
                      <a:endParaRPr lang="en-IN" b="1" dirty="0">
                        <a:solidFill>
                          <a:srgbClr val="FF0000"/>
                        </a:solidFill>
                        <a:latin typeface="Arial" panose="020B0604020202020204" pitchFamily="34" charset="0"/>
                        <a:cs typeface="Arial" panose="020B0604020202020204" pitchFamily="34" charset="0"/>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a:t>Sportswear, Casual Wear, Uniforms, Customized Apparel, Sustainable Production, Inventory &amp; Order Management Systems</a:t>
                      </a:r>
                      <a:endParaRPr lang="en-IN" sz="2000" b="0" dirty="0">
                        <a:latin typeface="Arial" panose="020B0604020202020204" pitchFamily="34" charset="0"/>
                        <a:cs typeface="Arial" panose="020B0604020202020204" pitchFamily="34" charset="0"/>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3251643"/>
                  </a:ext>
                </a:extLst>
              </a:tr>
            </a:tbl>
          </a:graphicData>
        </a:graphic>
      </p:graphicFrame>
    </p:spTree>
    <p:extLst>
      <p:ext uri="{BB962C8B-B14F-4D97-AF65-F5344CB8AC3E}">
        <p14:creationId xmlns:p14="http://schemas.microsoft.com/office/powerpoint/2010/main" val="28699333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69FA6D4-C4C4-BE60-10EB-52AACD83211A}"/>
              </a:ext>
            </a:extLst>
          </p:cNvPr>
          <p:cNvSpPr txBox="1"/>
          <p:nvPr/>
        </p:nvSpPr>
        <p:spPr>
          <a:xfrm>
            <a:off x="3528144" y="395461"/>
            <a:ext cx="5040488" cy="646331"/>
          </a:xfrm>
          <a:prstGeom prst="rect">
            <a:avLst/>
          </a:prstGeom>
          <a:noFill/>
        </p:spPr>
        <p:txBody>
          <a:bodyPr wrap="square">
            <a:spAutoFit/>
          </a:bodyPr>
          <a:lstStyle/>
          <a:p>
            <a:r>
              <a:rPr lang="en-CA" sz="3600" b="1" dirty="0">
                <a:solidFill>
                  <a:srgbClr val="FF0000"/>
                </a:solidFill>
              </a:rPr>
              <a:t>Certificate</a:t>
            </a:r>
          </a:p>
        </p:txBody>
      </p:sp>
      <p:pic>
        <p:nvPicPr>
          <p:cNvPr id="8" name="Picture 7" descr="A certificate of internship&#10;&#10;AI-generated content may be incorrect.">
            <a:extLst>
              <a:ext uri="{FF2B5EF4-FFF2-40B4-BE49-F238E27FC236}">
                <a16:creationId xmlns:a16="http://schemas.microsoft.com/office/drawing/2014/main" id="{588F5C6B-564D-3DC0-C437-E639488367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3808" y="1331565"/>
            <a:ext cx="8712968" cy="6166802"/>
          </a:xfrm>
          <a:prstGeom prst="rect">
            <a:avLst/>
          </a:prstGeom>
        </p:spPr>
      </p:pic>
    </p:spTree>
    <p:extLst>
      <p:ext uri="{BB962C8B-B14F-4D97-AF65-F5344CB8AC3E}">
        <p14:creationId xmlns:p14="http://schemas.microsoft.com/office/powerpoint/2010/main" val="13722962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3E1A07E-2338-0269-C6DB-5949B5541808}"/>
              </a:ext>
            </a:extLst>
          </p:cNvPr>
          <p:cNvSpPr txBox="1"/>
          <p:nvPr/>
        </p:nvSpPr>
        <p:spPr>
          <a:xfrm>
            <a:off x="2952080" y="467469"/>
            <a:ext cx="5040488" cy="646331"/>
          </a:xfrm>
          <a:prstGeom prst="rect">
            <a:avLst/>
          </a:prstGeom>
          <a:noFill/>
        </p:spPr>
        <p:txBody>
          <a:bodyPr wrap="square">
            <a:spAutoFit/>
          </a:bodyPr>
          <a:lstStyle/>
          <a:p>
            <a:r>
              <a:rPr lang="en-CA" sz="3600" b="1" dirty="0">
                <a:solidFill>
                  <a:srgbClr val="FF0000"/>
                </a:solidFill>
              </a:rPr>
              <a:t>Technologies Used</a:t>
            </a:r>
          </a:p>
        </p:txBody>
      </p:sp>
      <p:sp>
        <p:nvSpPr>
          <p:cNvPr id="2" name="Rectangle 1">
            <a:extLst>
              <a:ext uri="{FF2B5EF4-FFF2-40B4-BE49-F238E27FC236}">
                <a16:creationId xmlns:a16="http://schemas.microsoft.com/office/drawing/2014/main" id="{29020081-A031-8D9A-5592-2D7714FF1061}"/>
              </a:ext>
            </a:extLst>
          </p:cNvPr>
          <p:cNvSpPr>
            <a:spLocks noChangeArrowheads="1"/>
          </p:cNvSpPr>
          <p:nvPr/>
        </p:nvSpPr>
        <p:spPr bwMode="auto">
          <a:xfrm>
            <a:off x="287784" y="1629469"/>
            <a:ext cx="9072761"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sz="2000" b="1" dirty="0">
                <a:effectLst/>
                <a:ea typeface="MS Mincho" panose="02020609040205080304" pitchFamily="49" charset="-128"/>
                <a:cs typeface="Times New Roman" panose="02020603050405020304" pitchFamily="18" charset="0"/>
              </a:rPr>
              <a:t>1. React.js:</a:t>
            </a:r>
            <a:br>
              <a:rPr lang="en-US" sz="2000" dirty="0">
                <a:effectLst/>
                <a:ea typeface="MS Mincho" panose="02020609040205080304" pitchFamily="49" charset="-128"/>
                <a:cs typeface="Times New Roman" panose="02020603050405020304" pitchFamily="18" charset="0"/>
              </a:rPr>
            </a:br>
            <a:r>
              <a:rPr lang="en-US" sz="2000" dirty="0">
                <a:effectLst/>
                <a:ea typeface="MS Mincho" panose="02020609040205080304" pitchFamily="49" charset="-128"/>
                <a:cs typeface="Times New Roman" panose="02020603050405020304" pitchFamily="18" charset="0"/>
              </a:rPr>
              <a:t>   - Description: React is a JavaScript library for building user interfaces. It uses a component-based architecture, allowing developers to create reusable UI elements.</a:t>
            </a:r>
            <a:br>
              <a:rPr lang="en-US" sz="2000" dirty="0">
                <a:effectLst/>
                <a:ea typeface="MS Mincho" panose="02020609040205080304" pitchFamily="49" charset="-128"/>
                <a:cs typeface="Times New Roman" panose="02020603050405020304" pitchFamily="18" charset="0"/>
              </a:rPr>
            </a:br>
            <a:r>
              <a:rPr lang="en-US" sz="2000" dirty="0">
                <a:effectLst/>
                <a:ea typeface="MS Mincho" panose="02020609040205080304" pitchFamily="49" charset="-128"/>
                <a:cs typeface="Times New Roman" panose="02020603050405020304" pitchFamily="18" charset="0"/>
              </a:rPr>
              <a:t>   - Why Used: Ensures dynamic rendering of content, seamless state management, and efficient updates to the DOM, making the application fast and interactive.</a:t>
            </a:r>
            <a:br>
              <a:rPr lang="en-US" sz="2000" dirty="0">
                <a:effectLst/>
                <a:ea typeface="MS Mincho" panose="02020609040205080304" pitchFamily="49" charset="-128"/>
                <a:cs typeface="Times New Roman" panose="02020603050405020304" pitchFamily="18" charset="0"/>
              </a:rPr>
            </a:br>
            <a:br>
              <a:rPr lang="en-US" sz="2000" b="1" dirty="0">
                <a:effectLst/>
                <a:ea typeface="MS Mincho" panose="02020609040205080304" pitchFamily="49" charset="-128"/>
                <a:cs typeface="Times New Roman" panose="02020603050405020304" pitchFamily="18" charset="0"/>
              </a:rPr>
            </a:br>
            <a:r>
              <a:rPr lang="en-US" sz="2000" b="1" dirty="0">
                <a:effectLst/>
                <a:ea typeface="MS Mincho" panose="02020609040205080304" pitchFamily="49" charset="-128"/>
                <a:cs typeface="Times New Roman" panose="02020603050405020304" pitchFamily="18" charset="0"/>
              </a:rPr>
              <a:t>2. Node.js:</a:t>
            </a:r>
            <a:br>
              <a:rPr lang="en-US" sz="2000" b="1" dirty="0">
                <a:effectLst/>
                <a:ea typeface="MS Mincho" panose="02020609040205080304" pitchFamily="49" charset="-128"/>
                <a:cs typeface="Times New Roman" panose="02020603050405020304" pitchFamily="18" charset="0"/>
              </a:rPr>
            </a:br>
            <a:r>
              <a:rPr lang="en-US" sz="2000" dirty="0">
                <a:effectLst/>
                <a:ea typeface="MS Mincho" panose="02020609040205080304" pitchFamily="49" charset="-128"/>
                <a:cs typeface="Times New Roman" panose="02020603050405020304" pitchFamily="18" charset="0"/>
              </a:rPr>
              <a:t>   - Description: Node.js is a JavaScript runtime built on Chrome's V8 engine. It allows server-side scripting using JavaScript, enabling developers to build scalable and lightweight applications.</a:t>
            </a:r>
            <a:br>
              <a:rPr lang="en-US" sz="2000" dirty="0">
                <a:effectLst/>
                <a:ea typeface="MS Mincho" panose="02020609040205080304" pitchFamily="49" charset="-128"/>
                <a:cs typeface="Times New Roman" panose="02020603050405020304" pitchFamily="18" charset="0"/>
              </a:rPr>
            </a:br>
            <a:r>
              <a:rPr lang="en-US" sz="2000" dirty="0">
                <a:effectLst/>
                <a:ea typeface="MS Mincho" panose="02020609040205080304" pitchFamily="49" charset="-128"/>
                <a:cs typeface="Times New Roman" panose="02020603050405020304" pitchFamily="18" charset="0"/>
              </a:rPr>
              <a:t>   - Why Used: Provides a non-blocking, event-driven architecture ideal for building RESTful APIs and handling multiple simultaneous requests efficiently.</a:t>
            </a:r>
            <a:br>
              <a:rPr lang="en-US" sz="2000" dirty="0">
                <a:effectLst/>
                <a:ea typeface="MS Mincho" panose="02020609040205080304" pitchFamily="49" charset="-128"/>
                <a:cs typeface="Times New Roman" panose="02020603050405020304" pitchFamily="18" charset="0"/>
              </a:rPr>
            </a:br>
            <a:br>
              <a:rPr lang="en-US" sz="2000" dirty="0">
                <a:effectLst/>
                <a:ea typeface="MS Mincho" panose="02020609040205080304" pitchFamily="49" charset="-128"/>
                <a:cs typeface="Times New Roman" panose="02020603050405020304" pitchFamily="18" charset="0"/>
              </a:rPr>
            </a:br>
            <a:r>
              <a:rPr lang="en-US" sz="2000" b="1" dirty="0">
                <a:effectLst/>
                <a:ea typeface="MS Mincho" panose="02020609040205080304" pitchFamily="49" charset="-128"/>
                <a:cs typeface="Times New Roman" panose="02020603050405020304" pitchFamily="18" charset="0"/>
              </a:rPr>
              <a:t>3. Express.js:</a:t>
            </a:r>
            <a:br>
              <a:rPr lang="en-US" sz="2000" dirty="0">
                <a:effectLst/>
                <a:ea typeface="MS Mincho" panose="02020609040205080304" pitchFamily="49" charset="-128"/>
                <a:cs typeface="Times New Roman" panose="02020603050405020304" pitchFamily="18" charset="0"/>
              </a:rPr>
            </a:br>
            <a:r>
              <a:rPr lang="en-US" sz="2000" dirty="0">
                <a:effectLst/>
                <a:ea typeface="MS Mincho" panose="02020609040205080304" pitchFamily="49" charset="-128"/>
                <a:cs typeface="Times New Roman" panose="02020603050405020304" pitchFamily="18" charset="0"/>
              </a:rPr>
              <a:t>   - Description: Express.js is a minimal and flexible Node.js web application framework. It provides tools for building robust APIs and web applications.</a:t>
            </a:r>
            <a:br>
              <a:rPr lang="en-US" sz="2000" dirty="0">
                <a:effectLst/>
                <a:ea typeface="MS Mincho" panose="02020609040205080304" pitchFamily="49" charset="-128"/>
                <a:cs typeface="Times New Roman" panose="02020603050405020304" pitchFamily="18" charset="0"/>
              </a:rPr>
            </a:br>
            <a:r>
              <a:rPr lang="en-US" sz="2000" dirty="0">
                <a:effectLst/>
                <a:ea typeface="MS Mincho" panose="02020609040205080304" pitchFamily="49" charset="-128"/>
                <a:cs typeface="Times New Roman" panose="02020603050405020304" pitchFamily="18" charset="0"/>
              </a:rPr>
              <a:t>   - Why Used: Simplifies server-side routing, middleware handling, and API development, reducing development complexity.</a:t>
            </a:r>
            <a:endParaRPr kumimoji="0" lang="en-US" altLang="en-US" sz="2000" b="0" i="0" u="none" strike="noStrike" cap="none" normalizeH="0" baseline="0" dirty="0">
              <a:ln>
                <a:noFill/>
              </a:ln>
              <a:solidFill>
                <a:schemeClr val="tx1"/>
              </a:solidFill>
              <a:effectLst/>
              <a:cs typeface="Times New Roman" panose="02020603050405020304" pitchFamily="18" charset="0"/>
            </a:endParaRPr>
          </a:p>
        </p:txBody>
      </p:sp>
    </p:spTree>
    <p:extLst>
      <p:ext uri="{BB962C8B-B14F-4D97-AF65-F5344CB8AC3E}">
        <p14:creationId xmlns:p14="http://schemas.microsoft.com/office/powerpoint/2010/main" val="12496684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1D4033-EEC1-6C84-273F-19CD7BC3FD60}"/>
              </a:ext>
            </a:extLst>
          </p:cNvPr>
          <p:cNvSpPr txBox="1"/>
          <p:nvPr/>
        </p:nvSpPr>
        <p:spPr>
          <a:xfrm>
            <a:off x="2952080" y="395461"/>
            <a:ext cx="5040488" cy="646331"/>
          </a:xfrm>
          <a:prstGeom prst="rect">
            <a:avLst/>
          </a:prstGeom>
          <a:noFill/>
        </p:spPr>
        <p:txBody>
          <a:bodyPr wrap="square">
            <a:spAutoFit/>
          </a:bodyPr>
          <a:lstStyle/>
          <a:p>
            <a:r>
              <a:rPr lang="en-CA" sz="3600" b="1" dirty="0">
                <a:solidFill>
                  <a:srgbClr val="FF0000"/>
                </a:solidFill>
              </a:rPr>
              <a:t>Technology Name</a:t>
            </a:r>
          </a:p>
        </p:txBody>
      </p:sp>
      <p:sp>
        <p:nvSpPr>
          <p:cNvPr id="5" name="TextBox 4">
            <a:extLst>
              <a:ext uri="{FF2B5EF4-FFF2-40B4-BE49-F238E27FC236}">
                <a16:creationId xmlns:a16="http://schemas.microsoft.com/office/drawing/2014/main" id="{30D62005-FF59-7469-1912-D27829A6A80C}"/>
              </a:ext>
            </a:extLst>
          </p:cNvPr>
          <p:cNvSpPr txBox="1"/>
          <p:nvPr/>
        </p:nvSpPr>
        <p:spPr>
          <a:xfrm>
            <a:off x="251780" y="1691605"/>
            <a:ext cx="9577064" cy="5324535"/>
          </a:xfrm>
          <a:prstGeom prst="rect">
            <a:avLst/>
          </a:prstGeom>
          <a:noFill/>
        </p:spPr>
        <p:txBody>
          <a:bodyPr wrap="square">
            <a:spAutoFit/>
          </a:bodyPr>
          <a:lstStyle/>
          <a:p>
            <a:r>
              <a:rPr lang="en-US" sz="2000" b="1" dirty="0">
                <a:effectLst/>
                <a:ea typeface="MS Mincho" panose="02020609040205080304" pitchFamily="49" charset="-128"/>
                <a:cs typeface="Times New Roman" panose="02020603050405020304" pitchFamily="18" charset="0"/>
              </a:rPr>
              <a:t>4. MongoDB:</a:t>
            </a:r>
            <a:br>
              <a:rPr lang="en-US" sz="2000" dirty="0">
                <a:effectLst/>
                <a:ea typeface="MS Mincho" panose="02020609040205080304" pitchFamily="49" charset="-128"/>
                <a:cs typeface="Times New Roman" panose="02020603050405020304" pitchFamily="18" charset="0"/>
              </a:rPr>
            </a:br>
            <a:r>
              <a:rPr lang="en-US" sz="2000" dirty="0">
                <a:effectLst/>
                <a:ea typeface="MS Mincho" panose="02020609040205080304" pitchFamily="49" charset="-128"/>
                <a:cs typeface="Times New Roman" panose="02020603050405020304" pitchFamily="18" charset="0"/>
              </a:rPr>
              <a:t>   - Description: MongoDB is a NoSQL database designed for storing data in a flexible, JSON-like format. It supports scalable and distributed data management.</a:t>
            </a:r>
            <a:br>
              <a:rPr lang="en-US" sz="2000" dirty="0">
                <a:effectLst/>
                <a:ea typeface="MS Mincho" panose="02020609040205080304" pitchFamily="49" charset="-128"/>
                <a:cs typeface="Times New Roman" panose="02020603050405020304" pitchFamily="18" charset="0"/>
              </a:rPr>
            </a:br>
            <a:r>
              <a:rPr lang="en-US" sz="2000" dirty="0">
                <a:effectLst/>
                <a:ea typeface="MS Mincho" panose="02020609040205080304" pitchFamily="49" charset="-128"/>
                <a:cs typeface="Times New Roman" panose="02020603050405020304" pitchFamily="18" charset="0"/>
              </a:rPr>
              <a:t>   - Why Used: Enables efficient storage and retrieval of structured and unstructured data, making it ideal for assignments, user roles, and submission records.</a:t>
            </a:r>
            <a:br>
              <a:rPr lang="en-US" sz="2000" dirty="0">
                <a:effectLst/>
                <a:ea typeface="MS Mincho" panose="02020609040205080304" pitchFamily="49" charset="-128"/>
                <a:cs typeface="Times New Roman" panose="02020603050405020304" pitchFamily="18" charset="0"/>
              </a:rPr>
            </a:br>
            <a:br>
              <a:rPr lang="en-US" sz="2000" dirty="0">
                <a:effectLst/>
                <a:ea typeface="MS Mincho" panose="02020609040205080304" pitchFamily="49" charset="-128"/>
                <a:cs typeface="Times New Roman" panose="02020603050405020304" pitchFamily="18" charset="0"/>
              </a:rPr>
            </a:br>
            <a:r>
              <a:rPr lang="en-US" sz="2000" b="1" dirty="0">
                <a:effectLst/>
                <a:ea typeface="MS Mincho" panose="02020609040205080304" pitchFamily="49" charset="-128"/>
                <a:cs typeface="Times New Roman" panose="02020603050405020304" pitchFamily="18" charset="0"/>
              </a:rPr>
              <a:t>5. JWT (JSON Web Tokens):</a:t>
            </a:r>
            <a:br>
              <a:rPr lang="en-US" sz="2000" dirty="0">
                <a:effectLst/>
                <a:ea typeface="MS Mincho" panose="02020609040205080304" pitchFamily="49" charset="-128"/>
                <a:cs typeface="Times New Roman" panose="02020603050405020304" pitchFamily="18" charset="0"/>
              </a:rPr>
            </a:br>
            <a:r>
              <a:rPr lang="en-US" sz="2000" dirty="0">
                <a:effectLst/>
                <a:ea typeface="MS Mincho" panose="02020609040205080304" pitchFamily="49" charset="-128"/>
                <a:cs typeface="Times New Roman" panose="02020603050405020304" pitchFamily="18" charset="0"/>
              </a:rPr>
              <a:t>   - Description: JWT is an open standard for securely transmitting information between parties as a JSON object, digitally signed using a secret or public/private key pair.</a:t>
            </a:r>
            <a:br>
              <a:rPr lang="en-US" sz="2000" dirty="0">
                <a:effectLst/>
                <a:ea typeface="MS Mincho" panose="02020609040205080304" pitchFamily="49" charset="-128"/>
                <a:cs typeface="Times New Roman" panose="02020603050405020304" pitchFamily="18" charset="0"/>
              </a:rPr>
            </a:br>
            <a:r>
              <a:rPr lang="en-US" sz="2000" dirty="0">
                <a:effectLst/>
                <a:ea typeface="MS Mincho" panose="02020609040205080304" pitchFamily="49" charset="-128"/>
                <a:cs typeface="Times New Roman" panose="02020603050405020304" pitchFamily="18" charset="0"/>
              </a:rPr>
              <a:t>   - Why Used: Implements secure authentication and authorization for role-based access control.</a:t>
            </a:r>
            <a:br>
              <a:rPr lang="en-US" sz="2000" dirty="0">
                <a:effectLst/>
                <a:ea typeface="MS Mincho" panose="02020609040205080304" pitchFamily="49" charset="-128"/>
                <a:cs typeface="Times New Roman" panose="02020603050405020304" pitchFamily="18" charset="0"/>
              </a:rPr>
            </a:br>
            <a:br>
              <a:rPr lang="en-US" sz="2000" dirty="0">
                <a:effectLst/>
                <a:ea typeface="MS Mincho" panose="02020609040205080304" pitchFamily="49" charset="-128"/>
                <a:cs typeface="Times New Roman" panose="02020603050405020304" pitchFamily="18" charset="0"/>
              </a:rPr>
            </a:br>
            <a:r>
              <a:rPr lang="en-US" sz="2000" b="1" dirty="0">
                <a:effectLst/>
                <a:ea typeface="MS Mincho" panose="02020609040205080304" pitchFamily="49" charset="-128"/>
                <a:cs typeface="Times New Roman" panose="02020603050405020304" pitchFamily="18" charset="0"/>
              </a:rPr>
              <a:t>6. </a:t>
            </a:r>
            <a:r>
              <a:rPr lang="en-US" sz="2000" b="1" dirty="0" err="1">
                <a:effectLst/>
                <a:ea typeface="MS Mincho" panose="02020609040205080304" pitchFamily="49" charset="-128"/>
                <a:cs typeface="Times New Roman" panose="02020603050405020304" pitchFamily="18" charset="0"/>
              </a:rPr>
              <a:t>bcrypt</a:t>
            </a:r>
            <a:r>
              <a:rPr lang="en-US" sz="2000" b="1" dirty="0">
                <a:effectLst/>
                <a:ea typeface="MS Mincho" panose="02020609040205080304" pitchFamily="49" charset="-128"/>
                <a:cs typeface="Times New Roman" panose="02020603050405020304" pitchFamily="18" charset="0"/>
              </a:rPr>
              <a:t>:</a:t>
            </a:r>
            <a:br>
              <a:rPr lang="en-US" sz="2000" dirty="0">
                <a:effectLst/>
                <a:ea typeface="MS Mincho" panose="02020609040205080304" pitchFamily="49" charset="-128"/>
                <a:cs typeface="Times New Roman" panose="02020603050405020304" pitchFamily="18" charset="0"/>
              </a:rPr>
            </a:br>
            <a:r>
              <a:rPr lang="en-US" sz="2000" dirty="0">
                <a:effectLst/>
                <a:ea typeface="MS Mincho" panose="02020609040205080304" pitchFamily="49" charset="-128"/>
                <a:cs typeface="Times New Roman" panose="02020603050405020304" pitchFamily="18" charset="0"/>
              </a:rPr>
              <a:t>   - Description: </a:t>
            </a:r>
            <a:r>
              <a:rPr lang="en-US" sz="2000" dirty="0" err="1">
                <a:effectLst/>
                <a:ea typeface="MS Mincho" panose="02020609040205080304" pitchFamily="49" charset="-128"/>
                <a:cs typeface="Times New Roman" panose="02020603050405020304" pitchFamily="18" charset="0"/>
              </a:rPr>
              <a:t>bcrypt</a:t>
            </a:r>
            <a:r>
              <a:rPr lang="en-US" sz="2000" dirty="0">
                <a:effectLst/>
                <a:ea typeface="MS Mincho" panose="02020609040205080304" pitchFamily="49" charset="-128"/>
                <a:cs typeface="Times New Roman" panose="02020603050405020304" pitchFamily="18" charset="0"/>
              </a:rPr>
              <a:t> is a password-hashing library that uses a salt to protect against brute force attacks.</a:t>
            </a:r>
            <a:br>
              <a:rPr lang="en-US" sz="2000" dirty="0">
                <a:effectLst/>
                <a:ea typeface="MS Mincho" panose="02020609040205080304" pitchFamily="49" charset="-128"/>
                <a:cs typeface="Times New Roman" panose="02020603050405020304" pitchFamily="18" charset="0"/>
              </a:rPr>
            </a:br>
            <a:r>
              <a:rPr lang="en-US" sz="2000" dirty="0">
                <a:effectLst/>
                <a:ea typeface="MS Mincho" panose="02020609040205080304" pitchFamily="49" charset="-128"/>
                <a:cs typeface="Times New Roman" panose="02020603050405020304" pitchFamily="18" charset="0"/>
              </a:rPr>
              <a:t>   - Why Used: Ensures secure storage of user passwords, adding a layer of security to the application.</a:t>
            </a:r>
            <a:endParaRPr lang="en-CA" sz="2000" dirty="0">
              <a:cs typeface="Times New Roman" panose="02020603050405020304" pitchFamily="18" charset="0"/>
            </a:endParaRPr>
          </a:p>
        </p:txBody>
      </p:sp>
    </p:spTree>
    <p:extLst>
      <p:ext uri="{BB962C8B-B14F-4D97-AF65-F5344CB8AC3E}">
        <p14:creationId xmlns:p14="http://schemas.microsoft.com/office/powerpoint/2010/main" val="12476471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59BE353-9217-F5E4-8223-590172641A0E}"/>
              </a:ext>
            </a:extLst>
          </p:cNvPr>
          <p:cNvSpPr txBox="1"/>
          <p:nvPr/>
        </p:nvSpPr>
        <p:spPr>
          <a:xfrm>
            <a:off x="3024088" y="395461"/>
            <a:ext cx="5040488" cy="646331"/>
          </a:xfrm>
          <a:prstGeom prst="rect">
            <a:avLst/>
          </a:prstGeom>
          <a:noFill/>
        </p:spPr>
        <p:txBody>
          <a:bodyPr wrap="square">
            <a:spAutoFit/>
          </a:bodyPr>
          <a:lstStyle/>
          <a:p>
            <a:r>
              <a:rPr lang="en-CA" sz="3600" b="1" dirty="0">
                <a:solidFill>
                  <a:srgbClr val="FF0000"/>
                </a:solidFill>
              </a:rPr>
              <a:t>Technology Name</a:t>
            </a:r>
          </a:p>
        </p:txBody>
      </p:sp>
      <p:sp>
        <p:nvSpPr>
          <p:cNvPr id="5" name="TextBox 4">
            <a:extLst>
              <a:ext uri="{FF2B5EF4-FFF2-40B4-BE49-F238E27FC236}">
                <a16:creationId xmlns:a16="http://schemas.microsoft.com/office/drawing/2014/main" id="{0740E5A9-5ED8-3D37-0F84-D935647423D8}"/>
              </a:ext>
            </a:extLst>
          </p:cNvPr>
          <p:cNvSpPr txBox="1"/>
          <p:nvPr/>
        </p:nvSpPr>
        <p:spPr>
          <a:xfrm>
            <a:off x="359792" y="1763613"/>
            <a:ext cx="8928992" cy="3170099"/>
          </a:xfrm>
          <a:prstGeom prst="rect">
            <a:avLst/>
          </a:prstGeom>
          <a:noFill/>
        </p:spPr>
        <p:txBody>
          <a:bodyPr wrap="square">
            <a:spAutoFit/>
          </a:bodyPr>
          <a:lstStyle/>
          <a:p>
            <a:r>
              <a:rPr lang="en-US" sz="2000" b="1" dirty="0">
                <a:effectLst/>
                <a:ea typeface="MS Mincho" panose="02020609040205080304" pitchFamily="49" charset="-128"/>
                <a:cs typeface="Times New Roman" panose="02020603050405020304" pitchFamily="18" charset="0"/>
              </a:rPr>
              <a:t>7. </a:t>
            </a:r>
            <a:r>
              <a:rPr lang="en-US" sz="2000" b="1" dirty="0" err="1">
                <a:effectLst/>
                <a:ea typeface="MS Mincho" panose="02020609040205080304" pitchFamily="49" charset="-128"/>
                <a:cs typeface="Times New Roman" panose="02020603050405020304" pitchFamily="18" charset="0"/>
              </a:rPr>
              <a:t>Axios</a:t>
            </a:r>
            <a:r>
              <a:rPr lang="en-US" sz="2000" b="1" dirty="0">
                <a:effectLst/>
                <a:ea typeface="MS Mincho" panose="02020609040205080304" pitchFamily="49" charset="-128"/>
                <a:cs typeface="Times New Roman" panose="02020603050405020304" pitchFamily="18" charset="0"/>
              </a:rPr>
              <a:t>:</a:t>
            </a:r>
            <a:br>
              <a:rPr lang="en-US" sz="2000" dirty="0">
                <a:effectLst/>
                <a:ea typeface="MS Mincho" panose="02020609040205080304" pitchFamily="49" charset="-128"/>
                <a:cs typeface="Times New Roman" panose="02020603050405020304" pitchFamily="18" charset="0"/>
              </a:rPr>
            </a:br>
            <a:r>
              <a:rPr lang="en-US" sz="2000" dirty="0">
                <a:effectLst/>
                <a:ea typeface="MS Mincho" panose="02020609040205080304" pitchFamily="49" charset="-128"/>
                <a:cs typeface="Times New Roman" panose="02020603050405020304" pitchFamily="18" charset="0"/>
              </a:rPr>
              <a:t>   - Description: </a:t>
            </a:r>
            <a:r>
              <a:rPr lang="en-US" sz="2000" dirty="0" err="1">
                <a:effectLst/>
                <a:ea typeface="MS Mincho" panose="02020609040205080304" pitchFamily="49" charset="-128"/>
                <a:cs typeface="Times New Roman" panose="02020603050405020304" pitchFamily="18" charset="0"/>
              </a:rPr>
              <a:t>Axios</a:t>
            </a:r>
            <a:r>
              <a:rPr lang="en-US" sz="2000" dirty="0">
                <a:effectLst/>
                <a:ea typeface="MS Mincho" panose="02020609040205080304" pitchFamily="49" charset="-128"/>
                <a:cs typeface="Times New Roman" panose="02020603050405020304" pitchFamily="18" charset="0"/>
              </a:rPr>
              <a:t> is a promise-based HTTP client for the browser and Node.js, used for making API requests.</a:t>
            </a:r>
            <a:br>
              <a:rPr lang="en-US" sz="2000" dirty="0">
                <a:effectLst/>
                <a:ea typeface="MS Mincho" panose="02020609040205080304" pitchFamily="49" charset="-128"/>
                <a:cs typeface="Times New Roman" panose="02020603050405020304" pitchFamily="18" charset="0"/>
              </a:rPr>
            </a:br>
            <a:r>
              <a:rPr lang="en-US" sz="2000" dirty="0">
                <a:effectLst/>
                <a:ea typeface="MS Mincho" panose="02020609040205080304" pitchFamily="49" charset="-128"/>
                <a:cs typeface="Times New Roman" panose="02020603050405020304" pitchFamily="18" charset="0"/>
              </a:rPr>
              <a:t>   - Why Used: Simplifies communication between the frontend and backend, handling HTTP methods and responses efficiently.</a:t>
            </a:r>
            <a:br>
              <a:rPr lang="en-US" sz="2000" dirty="0">
                <a:effectLst/>
                <a:ea typeface="MS Mincho" panose="02020609040205080304" pitchFamily="49" charset="-128"/>
                <a:cs typeface="Times New Roman" panose="02020603050405020304" pitchFamily="18" charset="0"/>
              </a:rPr>
            </a:br>
            <a:br>
              <a:rPr lang="en-US" sz="2000" dirty="0">
                <a:effectLst/>
                <a:ea typeface="MS Mincho" panose="02020609040205080304" pitchFamily="49" charset="-128"/>
                <a:cs typeface="Times New Roman" panose="02020603050405020304" pitchFamily="18" charset="0"/>
              </a:rPr>
            </a:br>
            <a:r>
              <a:rPr lang="en-US" sz="2000" b="1" dirty="0">
                <a:effectLst/>
                <a:ea typeface="MS Mincho" panose="02020609040205080304" pitchFamily="49" charset="-128"/>
                <a:cs typeface="Times New Roman" panose="02020603050405020304" pitchFamily="18" charset="0"/>
              </a:rPr>
              <a:t>8. CSS:</a:t>
            </a:r>
            <a:br>
              <a:rPr lang="en-US" sz="2000" dirty="0">
                <a:effectLst/>
                <a:ea typeface="MS Mincho" panose="02020609040205080304" pitchFamily="49" charset="-128"/>
                <a:cs typeface="Times New Roman" panose="02020603050405020304" pitchFamily="18" charset="0"/>
              </a:rPr>
            </a:br>
            <a:r>
              <a:rPr lang="en-US" sz="2000" dirty="0">
                <a:effectLst/>
                <a:ea typeface="MS Mincho" panose="02020609040205080304" pitchFamily="49" charset="-128"/>
                <a:cs typeface="Times New Roman" panose="02020603050405020304" pitchFamily="18" charset="0"/>
              </a:rPr>
              <a:t>   - Description: Cascading Style Sheets (CSS) is used for styling HTML elements.</a:t>
            </a:r>
            <a:br>
              <a:rPr lang="en-US" sz="2000" dirty="0">
                <a:effectLst/>
                <a:ea typeface="MS Mincho" panose="02020609040205080304" pitchFamily="49" charset="-128"/>
                <a:cs typeface="Times New Roman" panose="02020603050405020304" pitchFamily="18" charset="0"/>
              </a:rPr>
            </a:br>
            <a:r>
              <a:rPr lang="en-US" sz="2000" dirty="0">
                <a:effectLst/>
                <a:ea typeface="MS Mincho" panose="02020609040205080304" pitchFamily="49" charset="-128"/>
                <a:cs typeface="Times New Roman" panose="02020603050405020304" pitchFamily="18" charset="0"/>
              </a:rPr>
              <a:t>   - Why Used: Provides a visually appealing and responsive interface for all user roles (admin, teacher, student).</a:t>
            </a:r>
            <a:endParaRPr lang="en-CA" sz="2000" dirty="0">
              <a:cs typeface="Times New Roman" panose="02020603050405020304" pitchFamily="18" charset="0"/>
            </a:endParaRPr>
          </a:p>
        </p:txBody>
      </p:sp>
    </p:spTree>
    <p:extLst>
      <p:ext uri="{BB962C8B-B14F-4D97-AF65-F5344CB8AC3E}">
        <p14:creationId xmlns:p14="http://schemas.microsoft.com/office/powerpoint/2010/main" val="33480210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81952FC-A7C7-F460-CE6F-E8A99C4E8028}"/>
              </a:ext>
            </a:extLst>
          </p:cNvPr>
          <p:cNvSpPr txBox="1"/>
          <p:nvPr/>
        </p:nvSpPr>
        <p:spPr>
          <a:xfrm>
            <a:off x="251780" y="1547589"/>
            <a:ext cx="9577064" cy="5298886"/>
          </a:xfrm>
          <a:prstGeom prst="rect">
            <a:avLst/>
          </a:prstGeom>
          <a:noFill/>
        </p:spPr>
        <p:txBody>
          <a:bodyPr wrap="square">
            <a:spAutoFit/>
          </a:bodyPr>
          <a:lstStyle/>
          <a:p>
            <a:pPr>
              <a:spcAft>
                <a:spcPts val="150"/>
              </a:spcAft>
            </a:pPr>
            <a:r>
              <a:rPr lang="en-GB" sz="2800" b="1" dirty="0"/>
              <a:t>Inventory Management System </a:t>
            </a:r>
          </a:p>
          <a:p>
            <a:pPr>
              <a:spcAft>
                <a:spcPts val="150"/>
              </a:spcAft>
            </a:pPr>
            <a:endParaRPr lang="en-GB" sz="600" dirty="0"/>
          </a:p>
          <a:p>
            <a:pPr>
              <a:spcAft>
                <a:spcPts val="100"/>
              </a:spcAft>
              <a:buFont typeface="Arial" panose="020B0604020202020204" pitchFamily="34" charset="0"/>
              <a:buChar char="•"/>
            </a:pPr>
            <a:r>
              <a:rPr lang="en-GB" dirty="0"/>
              <a:t>A </a:t>
            </a:r>
            <a:r>
              <a:rPr lang="en-GB" b="1" dirty="0"/>
              <a:t>full-stack web application</a:t>
            </a:r>
            <a:r>
              <a:rPr lang="en-GB" dirty="0"/>
              <a:t> built using the </a:t>
            </a:r>
            <a:r>
              <a:rPr lang="en-GB" b="1" dirty="0"/>
              <a:t>MERN stack (MongoDB, Express.js, React.js, Node.js)</a:t>
            </a:r>
            <a:r>
              <a:rPr lang="en-GB" dirty="0"/>
              <a:t> to streamline inventory and warehouse management.</a:t>
            </a:r>
          </a:p>
          <a:p>
            <a:pPr>
              <a:spcAft>
                <a:spcPts val="100"/>
              </a:spcAft>
              <a:buFont typeface="Arial" panose="020B0604020202020204" pitchFamily="34" charset="0"/>
              <a:buChar char="•"/>
            </a:pPr>
            <a:r>
              <a:rPr lang="en-GB" dirty="0"/>
              <a:t>Addresses inefficiencies caused by manual record-keeping and outdated systems by offering:</a:t>
            </a:r>
          </a:p>
          <a:p>
            <a:pPr marL="742950" lvl="1" indent="-285750">
              <a:spcAft>
                <a:spcPts val="100"/>
              </a:spcAft>
              <a:buFont typeface="Arial" panose="020B0604020202020204" pitchFamily="34" charset="0"/>
              <a:buChar char="•"/>
            </a:pPr>
            <a:r>
              <a:rPr lang="en-GB" dirty="0"/>
              <a:t>Real-time stock tracking</a:t>
            </a:r>
          </a:p>
          <a:p>
            <a:pPr marL="742950" lvl="1" indent="-285750">
              <a:spcAft>
                <a:spcPts val="100"/>
              </a:spcAft>
              <a:buFont typeface="Arial" panose="020B0604020202020204" pitchFamily="34" charset="0"/>
              <a:buChar char="•"/>
            </a:pPr>
            <a:r>
              <a:rPr lang="en-GB" dirty="0"/>
              <a:t>Secure, role-based access control</a:t>
            </a:r>
          </a:p>
          <a:p>
            <a:pPr marL="742950" lvl="1" indent="-285750">
              <a:spcAft>
                <a:spcPts val="100"/>
              </a:spcAft>
              <a:buFont typeface="Arial" panose="020B0604020202020204" pitchFamily="34" charset="0"/>
              <a:buChar char="•"/>
            </a:pPr>
            <a:r>
              <a:rPr lang="en-GB" dirty="0"/>
              <a:t>Automated reporting and audit logs</a:t>
            </a:r>
          </a:p>
          <a:p>
            <a:pPr>
              <a:spcAft>
                <a:spcPts val="100"/>
              </a:spcAft>
              <a:buFont typeface="Arial" panose="020B0604020202020204" pitchFamily="34" charset="0"/>
              <a:buChar char="•"/>
            </a:pPr>
            <a:r>
              <a:rPr lang="en-GB" dirty="0"/>
              <a:t>Enables managers to make </a:t>
            </a:r>
            <a:r>
              <a:rPr lang="en-GB" b="1" dirty="0"/>
              <a:t>data-driven decisions</a:t>
            </a:r>
            <a:r>
              <a:rPr lang="en-GB" dirty="0"/>
              <a:t>, maintain accountability, and scale operations efficiently.</a:t>
            </a:r>
          </a:p>
          <a:p>
            <a:pPr>
              <a:spcAft>
                <a:spcPts val="100"/>
              </a:spcAft>
              <a:buFont typeface="Arial" panose="020B0604020202020204" pitchFamily="34" charset="0"/>
              <a:buChar char="•"/>
            </a:pPr>
            <a:r>
              <a:rPr lang="en-GB" dirty="0"/>
              <a:t>Cloud-hosted solution deployed on </a:t>
            </a:r>
            <a:r>
              <a:rPr lang="en-GB" b="1" dirty="0"/>
              <a:t>Render (both frontend and backend)</a:t>
            </a:r>
            <a:r>
              <a:rPr lang="en-GB" dirty="0"/>
              <a:t> with </a:t>
            </a:r>
            <a:r>
              <a:rPr lang="en-GB" b="1" dirty="0"/>
              <a:t>MongoDB Atlas</a:t>
            </a:r>
            <a:r>
              <a:rPr lang="en-GB" dirty="0"/>
              <a:t> for scalable, reliable access anywhere.</a:t>
            </a:r>
          </a:p>
        </p:txBody>
      </p:sp>
      <p:sp>
        <p:nvSpPr>
          <p:cNvPr id="5" name="TextBox 4">
            <a:extLst>
              <a:ext uri="{FF2B5EF4-FFF2-40B4-BE49-F238E27FC236}">
                <a16:creationId xmlns:a16="http://schemas.microsoft.com/office/drawing/2014/main" id="{60E6311B-DAD6-02AE-CF30-50377C12CFB5}"/>
              </a:ext>
            </a:extLst>
          </p:cNvPr>
          <p:cNvSpPr txBox="1"/>
          <p:nvPr/>
        </p:nvSpPr>
        <p:spPr>
          <a:xfrm>
            <a:off x="2520068" y="467469"/>
            <a:ext cx="5040488" cy="646331"/>
          </a:xfrm>
          <a:prstGeom prst="rect">
            <a:avLst/>
          </a:prstGeom>
          <a:noFill/>
        </p:spPr>
        <p:txBody>
          <a:bodyPr wrap="square">
            <a:spAutoFit/>
          </a:bodyPr>
          <a:lstStyle/>
          <a:p>
            <a:r>
              <a:rPr lang="en-CA" sz="3600" b="1" dirty="0">
                <a:solidFill>
                  <a:srgbClr val="FF0000"/>
                </a:solidFill>
              </a:rPr>
              <a:t>Project Description</a:t>
            </a:r>
          </a:p>
        </p:txBody>
      </p:sp>
    </p:spTree>
    <p:extLst>
      <p:ext uri="{BB962C8B-B14F-4D97-AF65-F5344CB8AC3E}">
        <p14:creationId xmlns:p14="http://schemas.microsoft.com/office/powerpoint/2010/main" val="26931286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81952FC-A7C7-F460-CE6F-E8A99C4E8028}"/>
              </a:ext>
            </a:extLst>
          </p:cNvPr>
          <p:cNvSpPr txBox="1"/>
          <p:nvPr/>
        </p:nvSpPr>
        <p:spPr>
          <a:xfrm>
            <a:off x="251780" y="1763613"/>
            <a:ext cx="9577064" cy="4975721"/>
          </a:xfrm>
          <a:prstGeom prst="rect">
            <a:avLst/>
          </a:prstGeom>
          <a:noFill/>
        </p:spPr>
        <p:txBody>
          <a:bodyPr wrap="square">
            <a:spAutoFit/>
          </a:bodyPr>
          <a:lstStyle/>
          <a:p>
            <a:pPr>
              <a:spcAft>
                <a:spcPts val="150"/>
              </a:spcAft>
            </a:pPr>
            <a:r>
              <a:rPr lang="en-GB" b="1" dirty="0"/>
              <a:t>Key Features</a:t>
            </a:r>
            <a:endParaRPr lang="en-GB" dirty="0"/>
          </a:p>
          <a:p>
            <a:pPr>
              <a:spcAft>
                <a:spcPts val="150"/>
              </a:spcAft>
              <a:buFont typeface="Arial" panose="020B0604020202020204" pitchFamily="34" charset="0"/>
              <a:buChar char="•"/>
            </a:pPr>
            <a:r>
              <a:rPr lang="en-GB" dirty="0"/>
              <a:t>Modular interface with inbound/outbound tracking, dashboards, and reports</a:t>
            </a:r>
          </a:p>
          <a:p>
            <a:pPr>
              <a:spcAft>
                <a:spcPts val="150"/>
              </a:spcAft>
              <a:buFont typeface="Arial" panose="020B0604020202020204" pitchFamily="34" charset="0"/>
              <a:buChar char="•"/>
            </a:pPr>
            <a:r>
              <a:rPr lang="en-GB" dirty="0"/>
              <a:t>Excel file import for seamless migration using </a:t>
            </a:r>
            <a:r>
              <a:rPr lang="en-GB" b="1" dirty="0" err="1"/>
              <a:t>Multer</a:t>
            </a:r>
            <a:r>
              <a:rPr lang="en-GB" dirty="0"/>
              <a:t> and </a:t>
            </a:r>
            <a:r>
              <a:rPr lang="en-GB" b="1" dirty="0"/>
              <a:t>XLSX</a:t>
            </a:r>
            <a:r>
              <a:rPr lang="en-GB" dirty="0"/>
              <a:t> libraries</a:t>
            </a:r>
          </a:p>
          <a:p>
            <a:pPr>
              <a:spcAft>
                <a:spcPts val="150"/>
              </a:spcAft>
              <a:buFont typeface="Arial" panose="020B0604020202020204" pitchFamily="34" charset="0"/>
              <a:buChar char="•"/>
            </a:pPr>
            <a:r>
              <a:rPr lang="en-GB" dirty="0"/>
              <a:t>JWT-based authentication and role-based permissions for security</a:t>
            </a:r>
          </a:p>
          <a:p>
            <a:pPr>
              <a:spcAft>
                <a:spcPts val="150"/>
              </a:spcAft>
              <a:buFont typeface="Arial" panose="020B0604020202020204" pitchFamily="34" charset="0"/>
              <a:buChar char="•"/>
            </a:pPr>
            <a:r>
              <a:rPr lang="en-GB" dirty="0"/>
              <a:t>Real-time updates to the master database, responsive design, and error handling for smooth operation</a:t>
            </a:r>
          </a:p>
          <a:p>
            <a:pPr>
              <a:spcAft>
                <a:spcPts val="150"/>
              </a:spcAft>
              <a:buFont typeface="Arial" panose="020B0604020202020204" pitchFamily="34" charset="0"/>
              <a:buChar char="•"/>
            </a:pPr>
            <a:r>
              <a:rPr lang="en-GB" dirty="0"/>
              <a:t>Audit logs for full transaction history and accountability</a:t>
            </a:r>
          </a:p>
          <a:p>
            <a:pPr>
              <a:spcAft>
                <a:spcPts val="150"/>
              </a:spcAft>
              <a:buFont typeface="Arial" panose="020B0604020202020204" pitchFamily="34" charset="0"/>
              <a:buChar char="•"/>
            </a:pPr>
            <a:endParaRPr lang="en-GB" sz="600" dirty="0"/>
          </a:p>
          <a:p>
            <a:pPr>
              <a:spcAft>
                <a:spcPts val="150"/>
              </a:spcAft>
            </a:pPr>
            <a:r>
              <a:rPr lang="en-GB" b="1" dirty="0"/>
              <a:t>Impact</a:t>
            </a:r>
            <a:endParaRPr lang="en-GB" dirty="0"/>
          </a:p>
          <a:p>
            <a:pPr>
              <a:spcAft>
                <a:spcPts val="150"/>
              </a:spcAft>
              <a:buFont typeface="Arial" panose="020B0604020202020204" pitchFamily="34" charset="0"/>
              <a:buChar char="•"/>
            </a:pPr>
            <a:r>
              <a:rPr lang="en-GB" dirty="0"/>
              <a:t>Reduces manual errors and onboarding time</a:t>
            </a:r>
          </a:p>
          <a:p>
            <a:pPr>
              <a:spcAft>
                <a:spcPts val="150"/>
              </a:spcAft>
              <a:buFont typeface="Arial" panose="020B0604020202020204" pitchFamily="34" charset="0"/>
              <a:buChar char="•"/>
            </a:pPr>
            <a:r>
              <a:rPr lang="en-GB" dirty="0"/>
              <a:t>Enhances replenishment planning and decision-making</a:t>
            </a:r>
          </a:p>
          <a:p>
            <a:pPr>
              <a:spcAft>
                <a:spcPts val="150"/>
              </a:spcAft>
              <a:buFont typeface="Arial" panose="020B0604020202020204" pitchFamily="34" charset="0"/>
              <a:buChar char="•"/>
            </a:pPr>
            <a:r>
              <a:rPr lang="en-GB" dirty="0"/>
              <a:t>Bridges legacy workflows with modern technology</a:t>
            </a:r>
          </a:p>
          <a:p>
            <a:pPr>
              <a:spcAft>
                <a:spcPts val="150"/>
              </a:spcAft>
              <a:buFont typeface="Arial" panose="020B0604020202020204" pitchFamily="34" charset="0"/>
              <a:buChar char="•"/>
            </a:pPr>
            <a:r>
              <a:rPr lang="en-GB" dirty="0"/>
              <a:t>Prepares organizations for future automation and growth</a:t>
            </a:r>
          </a:p>
        </p:txBody>
      </p:sp>
      <p:sp>
        <p:nvSpPr>
          <p:cNvPr id="5" name="TextBox 4">
            <a:extLst>
              <a:ext uri="{FF2B5EF4-FFF2-40B4-BE49-F238E27FC236}">
                <a16:creationId xmlns:a16="http://schemas.microsoft.com/office/drawing/2014/main" id="{60E6311B-DAD6-02AE-CF30-50377C12CFB5}"/>
              </a:ext>
            </a:extLst>
          </p:cNvPr>
          <p:cNvSpPr txBox="1"/>
          <p:nvPr/>
        </p:nvSpPr>
        <p:spPr>
          <a:xfrm>
            <a:off x="2520068" y="467469"/>
            <a:ext cx="5040488" cy="646331"/>
          </a:xfrm>
          <a:prstGeom prst="rect">
            <a:avLst/>
          </a:prstGeom>
          <a:noFill/>
        </p:spPr>
        <p:txBody>
          <a:bodyPr wrap="square">
            <a:spAutoFit/>
          </a:bodyPr>
          <a:lstStyle/>
          <a:p>
            <a:r>
              <a:rPr lang="en-CA" sz="3600" b="1" dirty="0">
                <a:solidFill>
                  <a:srgbClr val="FF0000"/>
                </a:solidFill>
              </a:rPr>
              <a:t>Project Description</a:t>
            </a:r>
          </a:p>
        </p:txBody>
      </p:sp>
    </p:spTree>
    <p:extLst>
      <p:ext uri="{BB962C8B-B14F-4D97-AF65-F5344CB8AC3E}">
        <p14:creationId xmlns:p14="http://schemas.microsoft.com/office/powerpoint/2010/main" val="34076309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03B490C-4D99-9CC4-EF2A-771AEF132A76}"/>
              </a:ext>
            </a:extLst>
          </p:cNvPr>
          <p:cNvSpPr txBox="1"/>
          <p:nvPr/>
        </p:nvSpPr>
        <p:spPr>
          <a:xfrm>
            <a:off x="3528144" y="395461"/>
            <a:ext cx="5038344" cy="646331"/>
          </a:xfrm>
          <a:prstGeom prst="rect">
            <a:avLst/>
          </a:prstGeom>
          <a:noFill/>
        </p:spPr>
        <p:txBody>
          <a:bodyPr wrap="square">
            <a:spAutoFit/>
          </a:bodyPr>
          <a:lstStyle/>
          <a:p>
            <a:r>
              <a:rPr lang="en-CA" sz="3600" b="1" dirty="0">
                <a:solidFill>
                  <a:srgbClr val="FF0000"/>
                </a:solidFill>
              </a:rPr>
              <a:t>OUTPUT:</a:t>
            </a:r>
          </a:p>
        </p:txBody>
      </p:sp>
      <p:pic>
        <p:nvPicPr>
          <p:cNvPr id="5" name="Picture 4">
            <a:extLst>
              <a:ext uri="{FF2B5EF4-FFF2-40B4-BE49-F238E27FC236}">
                <a16:creationId xmlns:a16="http://schemas.microsoft.com/office/drawing/2014/main" id="{322D3C55-9FBC-3E7B-E4E0-AB159839E953}"/>
              </a:ext>
            </a:extLst>
          </p:cNvPr>
          <p:cNvPicPr>
            <a:picLocks noChangeAspect="1"/>
          </p:cNvPicPr>
          <p:nvPr/>
        </p:nvPicPr>
        <p:blipFill>
          <a:blip r:embed="rId3"/>
          <a:stretch>
            <a:fillRect/>
          </a:stretch>
        </p:blipFill>
        <p:spPr>
          <a:xfrm>
            <a:off x="-1" y="1763613"/>
            <a:ext cx="10080625" cy="5135712"/>
          </a:xfrm>
          <a:prstGeom prst="rect">
            <a:avLst/>
          </a:prstGeom>
        </p:spPr>
      </p:pic>
    </p:spTree>
    <p:extLst>
      <p:ext uri="{BB962C8B-B14F-4D97-AF65-F5344CB8AC3E}">
        <p14:creationId xmlns:p14="http://schemas.microsoft.com/office/powerpoint/2010/main" val="18446753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2C76BE3-836B-B772-6CEB-57C12F6A8F9F}"/>
              </a:ext>
            </a:extLst>
          </p:cNvPr>
          <p:cNvSpPr txBox="1"/>
          <p:nvPr/>
        </p:nvSpPr>
        <p:spPr>
          <a:xfrm>
            <a:off x="3528144" y="395811"/>
            <a:ext cx="5040488" cy="646331"/>
          </a:xfrm>
          <a:prstGeom prst="rect">
            <a:avLst/>
          </a:prstGeom>
          <a:noFill/>
        </p:spPr>
        <p:txBody>
          <a:bodyPr wrap="square">
            <a:spAutoFit/>
          </a:bodyPr>
          <a:lstStyle/>
          <a:p>
            <a:r>
              <a:rPr lang="en-CA" sz="3600" b="1" dirty="0">
                <a:solidFill>
                  <a:srgbClr val="FF0000"/>
                </a:solidFill>
              </a:rPr>
              <a:t>OUTPUT:</a:t>
            </a:r>
          </a:p>
        </p:txBody>
      </p:sp>
      <p:pic>
        <p:nvPicPr>
          <p:cNvPr id="2" name="Picture 1">
            <a:extLst>
              <a:ext uri="{FF2B5EF4-FFF2-40B4-BE49-F238E27FC236}">
                <a16:creationId xmlns:a16="http://schemas.microsoft.com/office/drawing/2014/main" id="{7809AD27-9A0E-F287-4E9C-A5183A63B9F9}"/>
              </a:ext>
            </a:extLst>
          </p:cNvPr>
          <p:cNvPicPr>
            <a:picLocks noChangeAspect="1"/>
          </p:cNvPicPr>
          <p:nvPr/>
        </p:nvPicPr>
        <p:blipFill>
          <a:blip r:embed="rId3"/>
          <a:stretch>
            <a:fillRect/>
          </a:stretch>
        </p:blipFill>
        <p:spPr>
          <a:xfrm>
            <a:off x="111764" y="1612293"/>
            <a:ext cx="9857095" cy="5544616"/>
          </a:xfrm>
          <a:prstGeom prst="rect">
            <a:avLst/>
          </a:prstGeom>
        </p:spPr>
      </p:pic>
    </p:spTree>
    <p:extLst>
      <p:ext uri="{BB962C8B-B14F-4D97-AF65-F5344CB8AC3E}">
        <p14:creationId xmlns:p14="http://schemas.microsoft.com/office/powerpoint/2010/main" val="1103403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2C76BE3-836B-B772-6CEB-57C12F6A8F9F}"/>
              </a:ext>
            </a:extLst>
          </p:cNvPr>
          <p:cNvSpPr txBox="1"/>
          <p:nvPr/>
        </p:nvSpPr>
        <p:spPr>
          <a:xfrm>
            <a:off x="3528144" y="395811"/>
            <a:ext cx="5040488" cy="646331"/>
          </a:xfrm>
          <a:prstGeom prst="rect">
            <a:avLst/>
          </a:prstGeom>
          <a:noFill/>
        </p:spPr>
        <p:txBody>
          <a:bodyPr wrap="square">
            <a:spAutoFit/>
          </a:bodyPr>
          <a:lstStyle/>
          <a:p>
            <a:r>
              <a:rPr lang="en-CA" sz="3600" b="1" dirty="0">
                <a:solidFill>
                  <a:srgbClr val="FF0000"/>
                </a:solidFill>
              </a:rPr>
              <a:t>OUTPUT:</a:t>
            </a:r>
          </a:p>
        </p:txBody>
      </p:sp>
      <p:pic>
        <p:nvPicPr>
          <p:cNvPr id="2" name="Picture 1">
            <a:extLst>
              <a:ext uri="{FF2B5EF4-FFF2-40B4-BE49-F238E27FC236}">
                <a16:creationId xmlns:a16="http://schemas.microsoft.com/office/drawing/2014/main" id="{E83E7014-E848-82D4-B443-49DE5F83FCB1}"/>
              </a:ext>
            </a:extLst>
          </p:cNvPr>
          <p:cNvPicPr>
            <a:picLocks noChangeAspect="1"/>
          </p:cNvPicPr>
          <p:nvPr/>
        </p:nvPicPr>
        <p:blipFill>
          <a:blip r:embed="rId3"/>
          <a:stretch>
            <a:fillRect/>
          </a:stretch>
        </p:blipFill>
        <p:spPr>
          <a:xfrm>
            <a:off x="16338" y="1624730"/>
            <a:ext cx="9904076" cy="5571043"/>
          </a:xfrm>
          <a:prstGeom prst="rect">
            <a:avLst/>
          </a:prstGeom>
        </p:spPr>
      </p:pic>
    </p:spTree>
    <p:extLst>
      <p:ext uri="{BB962C8B-B14F-4D97-AF65-F5344CB8AC3E}">
        <p14:creationId xmlns:p14="http://schemas.microsoft.com/office/powerpoint/2010/main" val="7167364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2C76BE3-836B-B772-6CEB-57C12F6A8F9F}"/>
              </a:ext>
            </a:extLst>
          </p:cNvPr>
          <p:cNvSpPr txBox="1"/>
          <p:nvPr/>
        </p:nvSpPr>
        <p:spPr>
          <a:xfrm>
            <a:off x="3528144" y="395811"/>
            <a:ext cx="5040488" cy="646331"/>
          </a:xfrm>
          <a:prstGeom prst="rect">
            <a:avLst/>
          </a:prstGeom>
          <a:noFill/>
        </p:spPr>
        <p:txBody>
          <a:bodyPr wrap="square">
            <a:spAutoFit/>
          </a:bodyPr>
          <a:lstStyle/>
          <a:p>
            <a:r>
              <a:rPr lang="en-CA" sz="3600" b="1" dirty="0">
                <a:solidFill>
                  <a:srgbClr val="FF0000"/>
                </a:solidFill>
              </a:rPr>
              <a:t>OUTPUT:</a:t>
            </a:r>
          </a:p>
        </p:txBody>
      </p:sp>
      <p:pic>
        <p:nvPicPr>
          <p:cNvPr id="2" name="Picture 1">
            <a:extLst>
              <a:ext uri="{FF2B5EF4-FFF2-40B4-BE49-F238E27FC236}">
                <a16:creationId xmlns:a16="http://schemas.microsoft.com/office/drawing/2014/main" id="{810F9303-48BC-E611-C256-827B9D95728D}"/>
              </a:ext>
            </a:extLst>
          </p:cNvPr>
          <p:cNvPicPr>
            <a:picLocks noChangeAspect="1"/>
          </p:cNvPicPr>
          <p:nvPr/>
        </p:nvPicPr>
        <p:blipFill>
          <a:blip r:embed="rId3"/>
          <a:stretch>
            <a:fillRect/>
          </a:stretch>
        </p:blipFill>
        <p:spPr>
          <a:xfrm>
            <a:off x="251780" y="1775538"/>
            <a:ext cx="9577064" cy="5387099"/>
          </a:xfrm>
          <a:prstGeom prst="rect">
            <a:avLst/>
          </a:prstGeom>
        </p:spPr>
      </p:pic>
    </p:spTree>
    <p:extLst>
      <p:ext uri="{BB962C8B-B14F-4D97-AF65-F5344CB8AC3E}">
        <p14:creationId xmlns:p14="http://schemas.microsoft.com/office/powerpoint/2010/main" val="17213676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2C76BE3-836B-B772-6CEB-57C12F6A8F9F}"/>
              </a:ext>
            </a:extLst>
          </p:cNvPr>
          <p:cNvSpPr txBox="1"/>
          <p:nvPr/>
        </p:nvSpPr>
        <p:spPr>
          <a:xfrm>
            <a:off x="3528144" y="395811"/>
            <a:ext cx="5040488" cy="646331"/>
          </a:xfrm>
          <a:prstGeom prst="rect">
            <a:avLst/>
          </a:prstGeom>
          <a:noFill/>
        </p:spPr>
        <p:txBody>
          <a:bodyPr wrap="square">
            <a:spAutoFit/>
          </a:bodyPr>
          <a:lstStyle/>
          <a:p>
            <a:r>
              <a:rPr lang="en-CA" sz="3600" b="1" dirty="0">
                <a:solidFill>
                  <a:srgbClr val="FF0000"/>
                </a:solidFill>
              </a:rPr>
              <a:t>OUTPUT:</a:t>
            </a:r>
          </a:p>
        </p:txBody>
      </p:sp>
      <p:pic>
        <p:nvPicPr>
          <p:cNvPr id="2" name="Picture 1">
            <a:extLst>
              <a:ext uri="{FF2B5EF4-FFF2-40B4-BE49-F238E27FC236}">
                <a16:creationId xmlns:a16="http://schemas.microsoft.com/office/drawing/2014/main" id="{FA0BD1C5-2E95-B0C1-EC3F-47A9BBA2CA49}"/>
              </a:ext>
            </a:extLst>
          </p:cNvPr>
          <p:cNvPicPr>
            <a:picLocks noChangeAspect="1"/>
          </p:cNvPicPr>
          <p:nvPr/>
        </p:nvPicPr>
        <p:blipFill>
          <a:blip r:embed="rId3"/>
          <a:stretch>
            <a:fillRect/>
          </a:stretch>
        </p:blipFill>
        <p:spPr>
          <a:xfrm>
            <a:off x="176082" y="1718938"/>
            <a:ext cx="9728460" cy="5472259"/>
          </a:xfrm>
          <a:prstGeom prst="rect">
            <a:avLst/>
          </a:prstGeom>
        </p:spPr>
      </p:pic>
    </p:spTree>
    <p:extLst>
      <p:ext uri="{BB962C8B-B14F-4D97-AF65-F5344CB8AC3E}">
        <p14:creationId xmlns:p14="http://schemas.microsoft.com/office/powerpoint/2010/main" val="38014046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2C76BE3-836B-B772-6CEB-57C12F6A8F9F}"/>
              </a:ext>
            </a:extLst>
          </p:cNvPr>
          <p:cNvSpPr txBox="1"/>
          <p:nvPr/>
        </p:nvSpPr>
        <p:spPr>
          <a:xfrm>
            <a:off x="3528144" y="395811"/>
            <a:ext cx="5040488" cy="646331"/>
          </a:xfrm>
          <a:prstGeom prst="rect">
            <a:avLst/>
          </a:prstGeom>
          <a:noFill/>
        </p:spPr>
        <p:txBody>
          <a:bodyPr wrap="square">
            <a:spAutoFit/>
          </a:bodyPr>
          <a:lstStyle/>
          <a:p>
            <a:r>
              <a:rPr lang="en-CA" sz="3600" b="1" dirty="0">
                <a:solidFill>
                  <a:srgbClr val="FF0000"/>
                </a:solidFill>
              </a:rPr>
              <a:t>OUTPUT:</a:t>
            </a:r>
          </a:p>
        </p:txBody>
      </p:sp>
      <p:pic>
        <p:nvPicPr>
          <p:cNvPr id="6" name="Picture 5">
            <a:extLst>
              <a:ext uri="{FF2B5EF4-FFF2-40B4-BE49-F238E27FC236}">
                <a16:creationId xmlns:a16="http://schemas.microsoft.com/office/drawing/2014/main" id="{C6BBD9E0-2DFB-09D6-FA0C-35EC5B3F71D7}"/>
              </a:ext>
            </a:extLst>
          </p:cNvPr>
          <p:cNvPicPr>
            <a:picLocks noChangeAspect="1"/>
          </p:cNvPicPr>
          <p:nvPr/>
        </p:nvPicPr>
        <p:blipFill>
          <a:blip r:embed="rId3"/>
          <a:srcRect l="4998" r="4998"/>
          <a:stretch/>
        </p:blipFill>
        <p:spPr>
          <a:xfrm>
            <a:off x="215776" y="1619597"/>
            <a:ext cx="9505056" cy="5408302"/>
          </a:xfrm>
          <a:prstGeom prst="rect">
            <a:avLst/>
          </a:prstGeom>
        </p:spPr>
      </p:pic>
    </p:spTree>
    <p:extLst>
      <p:ext uri="{BB962C8B-B14F-4D97-AF65-F5344CB8AC3E}">
        <p14:creationId xmlns:p14="http://schemas.microsoft.com/office/powerpoint/2010/main" val="9750982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2C76BE3-836B-B772-6CEB-57C12F6A8F9F}"/>
              </a:ext>
            </a:extLst>
          </p:cNvPr>
          <p:cNvSpPr txBox="1"/>
          <p:nvPr/>
        </p:nvSpPr>
        <p:spPr>
          <a:xfrm>
            <a:off x="3528144" y="395811"/>
            <a:ext cx="5040488" cy="646331"/>
          </a:xfrm>
          <a:prstGeom prst="rect">
            <a:avLst/>
          </a:prstGeom>
          <a:noFill/>
        </p:spPr>
        <p:txBody>
          <a:bodyPr wrap="square">
            <a:spAutoFit/>
          </a:bodyPr>
          <a:lstStyle/>
          <a:p>
            <a:r>
              <a:rPr lang="en-CA" sz="3600" b="1" dirty="0">
                <a:solidFill>
                  <a:srgbClr val="FF0000"/>
                </a:solidFill>
              </a:rPr>
              <a:t>OUTPUT:</a:t>
            </a:r>
          </a:p>
        </p:txBody>
      </p:sp>
      <p:pic>
        <p:nvPicPr>
          <p:cNvPr id="4" name="Picture 3">
            <a:extLst>
              <a:ext uri="{FF2B5EF4-FFF2-40B4-BE49-F238E27FC236}">
                <a16:creationId xmlns:a16="http://schemas.microsoft.com/office/drawing/2014/main" id="{EEB74D9B-56AF-A66F-B299-18ACB2FB6179}"/>
              </a:ext>
            </a:extLst>
          </p:cNvPr>
          <p:cNvPicPr>
            <a:picLocks noChangeAspect="1"/>
          </p:cNvPicPr>
          <p:nvPr/>
        </p:nvPicPr>
        <p:blipFill>
          <a:blip r:embed="rId3"/>
          <a:stretch>
            <a:fillRect/>
          </a:stretch>
        </p:blipFill>
        <p:spPr>
          <a:xfrm>
            <a:off x="303786" y="1835272"/>
            <a:ext cx="9473052" cy="5328592"/>
          </a:xfrm>
          <a:prstGeom prst="rect">
            <a:avLst/>
          </a:prstGeom>
        </p:spPr>
      </p:pic>
    </p:spTree>
    <p:extLst>
      <p:ext uri="{BB962C8B-B14F-4D97-AF65-F5344CB8AC3E}">
        <p14:creationId xmlns:p14="http://schemas.microsoft.com/office/powerpoint/2010/main" val="5235696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2C76BE3-836B-B772-6CEB-57C12F6A8F9F}"/>
              </a:ext>
            </a:extLst>
          </p:cNvPr>
          <p:cNvSpPr txBox="1"/>
          <p:nvPr/>
        </p:nvSpPr>
        <p:spPr>
          <a:xfrm>
            <a:off x="3528144" y="395811"/>
            <a:ext cx="5040488" cy="646331"/>
          </a:xfrm>
          <a:prstGeom prst="rect">
            <a:avLst/>
          </a:prstGeom>
          <a:noFill/>
        </p:spPr>
        <p:txBody>
          <a:bodyPr wrap="square">
            <a:spAutoFit/>
          </a:bodyPr>
          <a:lstStyle/>
          <a:p>
            <a:r>
              <a:rPr lang="en-CA" sz="3600" b="1" dirty="0">
                <a:solidFill>
                  <a:srgbClr val="FF0000"/>
                </a:solidFill>
              </a:rPr>
              <a:t>OUTPUT:</a:t>
            </a:r>
          </a:p>
        </p:txBody>
      </p:sp>
      <p:pic>
        <p:nvPicPr>
          <p:cNvPr id="4" name="Picture 3">
            <a:extLst>
              <a:ext uri="{FF2B5EF4-FFF2-40B4-BE49-F238E27FC236}">
                <a16:creationId xmlns:a16="http://schemas.microsoft.com/office/drawing/2014/main" id="{D2EB18B7-D00D-26C5-B3B7-4FFF70735B22}"/>
              </a:ext>
            </a:extLst>
          </p:cNvPr>
          <p:cNvPicPr>
            <a:picLocks noChangeAspect="1"/>
          </p:cNvPicPr>
          <p:nvPr/>
        </p:nvPicPr>
        <p:blipFill>
          <a:blip r:embed="rId3"/>
          <a:stretch>
            <a:fillRect/>
          </a:stretch>
        </p:blipFill>
        <p:spPr>
          <a:xfrm>
            <a:off x="359792" y="1619597"/>
            <a:ext cx="9345038" cy="5256584"/>
          </a:xfrm>
          <a:prstGeom prst="rect">
            <a:avLst/>
          </a:prstGeom>
        </p:spPr>
      </p:pic>
    </p:spTree>
    <p:extLst>
      <p:ext uri="{BB962C8B-B14F-4D97-AF65-F5344CB8AC3E}">
        <p14:creationId xmlns:p14="http://schemas.microsoft.com/office/powerpoint/2010/main" val="14514926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2C76BE3-836B-B772-6CEB-57C12F6A8F9F}"/>
              </a:ext>
            </a:extLst>
          </p:cNvPr>
          <p:cNvSpPr txBox="1"/>
          <p:nvPr/>
        </p:nvSpPr>
        <p:spPr>
          <a:xfrm>
            <a:off x="3528144" y="395811"/>
            <a:ext cx="5040488" cy="646331"/>
          </a:xfrm>
          <a:prstGeom prst="rect">
            <a:avLst/>
          </a:prstGeom>
          <a:noFill/>
        </p:spPr>
        <p:txBody>
          <a:bodyPr wrap="square">
            <a:spAutoFit/>
          </a:bodyPr>
          <a:lstStyle/>
          <a:p>
            <a:r>
              <a:rPr lang="en-CA" sz="3600" b="1" dirty="0">
                <a:solidFill>
                  <a:srgbClr val="FF0000"/>
                </a:solidFill>
              </a:rPr>
              <a:t>OUTPUT:</a:t>
            </a:r>
          </a:p>
        </p:txBody>
      </p:sp>
      <p:pic>
        <p:nvPicPr>
          <p:cNvPr id="4" name="Picture 3">
            <a:extLst>
              <a:ext uri="{FF2B5EF4-FFF2-40B4-BE49-F238E27FC236}">
                <a16:creationId xmlns:a16="http://schemas.microsoft.com/office/drawing/2014/main" id="{EEB74D9B-56AF-A66F-B299-18ACB2FB6179}"/>
              </a:ext>
            </a:extLst>
          </p:cNvPr>
          <p:cNvPicPr>
            <a:picLocks noChangeAspect="1"/>
          </p:cNvPicPr>
          <p:nvPr/>
        </p:nvPicPr>
        <p:blipFill>
          <a:blip r:embed="rId3"/>
          <a:stretch>
            <a:fillRect/>
          </a:stretch>
        </p:blipFill>
        <p:spPr>
          <a:xfrm>
            <a:off x="303786" y="1835272"/>
            <a:ext cx="9473052" cy="5328592"/>
          </a:xfrm>
          <a:prstGeom prst="rect">
            <a:avLst/>
          </a:prstGeom>
        </p:spPr>
      </p:pic>
    </p:spTree>
    <p:extLst>
      <p:ext uri="{BB962C8B-B14F-4D97-AF65-F5344CB8AC3E}">
        <p14:creationId xmlns:p14="http://schemas.microsoft.com/office/powerpoint/2010/main" val="40804778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837C210-7982-5C2E-5125-C09478F77EC5}"/>
              </a:ext>
            </a:extLst>
          </p:cNvPr>
          <p:cNvSpPr txBox="1"/>
          <p:nvPr/>
        </p:nvSpPr>
        <p:spPr>
          <a:xfrm>
            <a:off x="3528144" y="363036"/>
            <a:ext cx="5040488" cy="646331"/>
          </a:xfrm>
          <a:prstGeom prst="rect">
            <a:avLst/>
          </a:prstGeom>
          <a:noFill/>
        </p:spPr>
        <p:txBody>
          <a:bodyPr wrap="square">
            <a:spAutoFit/>
          </a:bodyPr>
          <a:lstStyle/>
          <a:p>
            <a:r>
              <a:rPr lang="en-CA" sz="3600" b="1" dirty="0">
                <a:solidFill>
                  <a:srgbClr val="FF0000"/>
                </a:solidFill>
              </a:rPr>
              <a:t>Conclusion</a:t>
            </a:r>
          </a:p>
        </p:txBody>
      </p:sp>
      <p:sp>
        <p:nvSpPr>
          <p:cNvPr id="4" name="Rectangle 1">
            <a:extLst>
              <a:ext uri="{FF2B5EF4-FFF2-40B4-BE49-F238E27FC236}">
                <a16:creationId xmlns:a16="http://schemas.microsoft.com/office/drawing/2014/main" id="{79880E3F-B96F-E1D9-A76D-3A3325A5E749}"/>
              </a:ext>
            </a:extLst>
          </p:cNvPr>
          <p:cNvSpPr>
            <a:spLocks noChangeArrowheads="1"/>
          </p:cNvSpPr>
          <p:nvPr/>
        </p:nvSpPr>
        <p:spPr bwMode="auto">
          <a:xfrm>
            <a:off x="575816" y="1835621"/>
            <a:ext cx="8568952"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a:r>
              <a:rPr lang="en-GB" dirty="0"/>
              <a:t>The </a:t>
            </a:r>
            <a:r>
              <a:rPr lang="en-GB" dirty="0">
                <a:solidFill>
                  <a:srgbClr val="C00000"/>
                </a:solidFill>
              </a:rPr>
              <a:t>Inventory Management System </a:t>
            </a:r>
            <a:r>
              <a:rPr lang="en-GB" dirty="0"/>
              <a:t>provides a modern, efficient, and scalable solution for managing warehouse and inventory operations. By integrating real-time tracking, secure access controls, and automated reporting, it addresses common challenges in traditional inventory practices. The system’s cloud-based architecture ensures accessibility and reliability, while features like Excel import and audit logs simplify adoption and enhance accountability. This project not only improves operational efficiency but also lays the foundation for future advancements such as automation and data-driven decision-making, making it a robust tool for organizations aiming to modernize their supply chain management.</a:t>
            </a:r>
          </a:p>
        </p:txBody>
      </p:sp>
    </p:spTree>
    <p:extLst>
      <p:ext uri="{BB962C8B-B14F-4D97-AF65-F5344CB8AC3E}">
        <p14:creationId xmlns:p14="http://schemas.microsoft.com/office/powerpoint/2010/main" val="4421176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31B8A68-A21B-2A18-4C72-D186CEE33970}"/>
              </a:ext>
            </a:extLst>
          </p:cNvPr>
          <p:cNvSpPr txBox="1"/>
          <p:nvPr/>
        </p:nvSpPr>
        <p:spPr>
          <a:xfrm>
            <a:off x="3456136" y="395461"/>
            <a:ext cx="5040488" cy="646331"/>
          </a:xfrm>
          <a:prstGeom prst="rect">
            <a:avLst/>
          </a:prstGeom>
          <a:noFill/>
        </p:spPr>
        <p:txBody>
          <a:bodyPr wrap="square">
            <a:spAutoFit/>
          </a:bodyPr>
          <a:lstStyle/>
          <a:p>
            <a:r>
              <a:rPr lang="en-CA" sz="3600" b="1" dirty="0">
                <a:solidFill>
                  <a:srgbClr val="FF0000"/>
                </a:solidFill>
              </a:rPr>
              <a:t>Future Scope</a:t>
            </a:r>
          </a:p>
        </p:txBody>
      </p:sp>
      <p:sp>
        <p:nvSpPr>
          <p:cNvPr id="8" name="TextBox 7">
            <a:extLst>
              <a:ext uri="{FF2B5EF4-FFF2-40B4-BE49-F238E27FC236}">
                <a16:creationId xmlns:a16="http://schemas.microsoft.com/office/drawing/2014/main" id="{2661AD45-82A9-2078-270D-E66E5CEC5909}"/>
              </a:ext>
            </a:extLst>
          </p:cNvPr>
          <p:cNvSpPr txBox="1"/>
          <p:nvPr/>
        </p:nvSpPr>
        <p:spPr>
          <a:xfrm>
            <a:off x="359792" y="1475581"/>
            <a:ext cx="8928992" cy="5632311"/>
          </a:xfrm>
          <a:prstGeom prst="rect">
            <a:avLst/>
          </a:prstGeom>
          <a:noFill/>
        </p:spPr>
        <p:txBody>
          <a:bodyPr wrap="square">
            <a:spAutoFit/>
          </a:bodyPr>
          <a:lstStyle/>
          <a:p>
            <a:r>
              <a:rPr lang="en-CA" dirty="0"/>
              <a:t>Future Improvements for Inventory Management System</a:t>
            </a:r>
          </a:p>
          <a:p>
            <a:pPr marL="342900" indent="-342900">
              <a:buFont typeface="Wingdings" panose="05000000000000000000" pitchFamily="2" charset="2"/>
              <a:buChar char="§"/>
            </a:pPr>
            <a:r>
              <a:rPr lang="en-CA" dirty="0"/>
              <a:t>Integration with IoT Devices: Automate stock monitoring using sensors for real-time data without manual input.</a:t>
            </a:r>
          </a:p>
          <a:p>
            <a:pPr marL="342900" indent="-342900">
              <a:buFont typeface="Wingdings" panose="05000000000000000000" pitchFamily="2" charset="2"/>
              <a:buChar char="§"/>
            </a:pPr>
            <a:r>
              <a:rPr lang="en-CA" dirty="0"/>
              <a:t>AI-driven Demand Forecasting: Use historical data to predict stock requirements and optimize inventory levels.</a:t>
            </a:r>
          </a:p>
          <a:p>
            <a:pPr marL="342900" indent="-342900">
              <a:buFont typeface="Wingdings" panose="05000000000000000000" pitchFamily="2" charset="2"/>
              <a:buChar char="§"/>
            </a:pPr>
            <a:r>
              <a:rPr lang="en-CA" dirty="0"/>
              <a:t>Mobile Application Development: Extend accessibility by building dedicated apps for field staff and managers.</a:t>
            </a:r>
          </a:p>
          <a:p>
            <a:pPr marL="342900" indent="-342900">
              <a:buFont typeface="Wingdings" panose="05000000000000000000" pitchFamily="2" charset="2"/>
              <a:buChar char="§"/>
            </a:pPr>
            <a:r>
              <a:rPr lang="en-CA" dirty="0"/>
              <a:t>Multi-Warehouse Support: Scale the system to manage inventory across multiple locations with centralized control.</a:t>
            </a:r>
          </a:p>
          <a:p>
            <a:pPr marL="342900" indent="-342900">
              <a:buFont typeface="Wingdings" panose="05000000000000000000" pitchFamily="2" charset="2"/>
              <a:buChar char="§"/>
            </a:pPr>
            <a:r>
              <a:rPr lang="en-CA" dirty="0"/>
              <a:t>Advanced Analytics &amp; Reporting: Incorporate dashboards with trends, alerts, and insights for strategic planning.</a:t>
            </a:r>
          </a:p>
          <a:p>
            <a:pPr marL="342900" indent="-342900">
              <a:buFont typeface="Wingdings" panose="05000000000000000000" pitchFamily="2" charset="2"/>
              <a:buChar char="§"/>
            </a:pPr>
            <a:r>
              <a:rPr lang="en-CA" dirty="0"/>
              <a:t>ERP and Supply Chain Integration: Connect with enterprise systems to streamline procurement, logistics, and finance processes.</a:t>
            </a:r>
          </a:p>
          <a:p>
            <a:pPr marL="342900" indent="-342900">
              <a:buFont typeface="Wingdings" panose="05000000000000000000" pitchFamily="2" charset="2"/>
              <a:buChar char="§"/>
            </a:pPr>
            <a:r>
              <a:rPr lang="en-CA" dirty="0"/>
              <a:t>Enhanced Security &amp; Compliance: Implement advanced encryption, multi-factor authentication, and regulatory compliance features.</a:t>
            </a:r>
          </a:p>
        </p:txBody>
      </p:sp>
    </p:spTree>
    <p:extLst>
      <p:ext uri="{BB962C8B-B14F-4D97-AF65-F5344CB8AC3E}">
        <p14:creationId xmlns:p14="http://schemas.microsoft.com/office/powerpoint/2010/main" val="23659713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E7D63E0-A0D6-2496-1514-21DED432F7B0}"/>
              </a:ext>
            </a:extLst>
          </p:cNvPr>
          <p:cNvSpPr txBox="1"/>
          <p:nvPr/>
        </p:nvSpPr>
        <p:spPr>
          <a:xfrm>
            <a:off x="3600152" y="395461"/>
            <a:ext cx="5040774" cy="646331"/>
          </a:xfrm>
          <a:prstGeom prst="rect">
            <a:avLst/>
          </a:prstGeom>
          <a:noFill/>
        </p:spPr>
        <p:txBody>
          <a:bodyPr wrap="square">
            <a:spAutoFit/>
          </a:bodyPr>
          <a:lstStyle/>
          <a:p>
            <a:r>
              <a:rPr lang="en-CA" sz="3600" b="1" dirty="0">
                <a:solidFill>
                  <a:srgbClr val="FF0000"/>
                </a:solidFill>
              </a:rPr>
              <a:t>References</a:t>
            </a:r>
          </a:p>
        </p:txBody>
      </p:sp>
      <p:sp>
        <p:nvSpPr>
          <p:cNvPr id="5" name="TextBox 4">
            <a:extLst>
              <a:ext uri="{FF2B5EF4-FFF2-40B4-BE49-F238E27FC236}">
                <a16:creationId xmlns:a16="http://schemas.microsoft.com/office/drawing/2014/main" id="{C1BC1382-2AC3-39F4-9C81-EBBAECE0B64D}"/>
              </a:ext>
            </a:extLst>
          </p:cNvPr>
          <p:cNvSpPr txBox="1"/>
          <p:nvPr/>
        </p:nvSpPr>
        <p:spPr>
          <a:xfrm>
            <a:off x="359792" y="1835621"/>
            <a:ext cx="9001000" cy="5108706"/>
          </a:xfrm>
          <a:prstGeom prst="rect">
            <a:avLst/>
          </a:prstGeom>
          <a:noFill/>
        </p:spPr>
        <p:txBody>
          <a:bodyPr wrap="square">
            <a:spAutoFit/>
          </a:bodyPr>
          <a:lstStyle/>
          <a:p>
            <a:pPr>
              <a:lnSpc>
                <a:spcPct val="115000"/>
              </a:lnSpc>
              <a:spcAft>
                <a:spcPts val="1000"/>
              </a:spcAft>
            </a:pPr>
            <a:r>
              <a:rPr lang="en-US" sz="2200" dirty="0">
                <a:effectLst/>
                <a:latin typeface="Times New Roman" panose="02020603050405020304" pitchFamily="18" charset="0"/>
                <a:ea typeface="MS Mincho" panose="02020609040205080304" pitchFamily="49" charset="-128"/>
                <a:cs typeface="Times New Roman" panose="02020603050405020304" pitchFamily="18" charset="0"/>
              </a:rPr>
              <a:t>1. MongoDB Documentation – </a:t>
            </a:r>
            <a:r>
              <a:rPr lang="en-US" sz="2200" dirty="0">
                <a:effectLst/>
                <a:latin typeface="Times New Roman" panose="02020603050405020304" pitchFamily="18" charset="0"/>
                <a:ea typeface="MS Mincho" panose="02020609040205080304" pitchFamily="49" charset="-128"/>
                <a:cs typeface="Times New Roman" panose="02020603050405020304" pitchFamily="18" charset="0"/>
                <a:hlinkClick r:id="rId3"/>
              </a:rPr>
              <a:t>https://www.mongodb.com/docs/</a:t>
            </a:r>
            <a:r>
              <a:rPr lang="en-US" sz="2200" dirty="0">
                <a:effectLst/>
                <a:latin typeface="Times New Roman" panose="02020603050405020304" pitchFamily="18" charset="0"/>
                <a:ea typeface="MS Mincho" panose="02020609040205080304" pitchFamily="49" charset="-128"/>
                <a:cs typeface="Times New Roman" panose="02020603050405020304" pitchFamily="18" charset="0"/>
              </a:rPr>
              <a:t> </a:t>
            </a:r>
          </a:p>
          <a:p>
            <a:pPr>
              <a:lnSpc>
                <a:spcPct val="115000"/>
              </a:lnSpc>
              <a:spcAft>
                <a:spcPts val="1000"/>
              </a:spcAft>
            </a:pPr>
            <a:r>
              <a:rPr lang="en-US" sz="2200" dirty="0">
                <a:effectLst/>
                <a:latin typeface="Times New Roman" panose="02020603050405020304" pitchFamily="18" charset="0"/>
                <a:ea typeface="MS Mincho" panose="02020609040205080304" pitchFamily="49" charset="-128"/>
                <a:cs typeface="Times New Roman" panose="02020603050405020304" pitchFamily="18" charset="0"/>
              </a:rPr>
              <a:t>2. Express.js Guide – </a:t>
            </a:r>
            <a:r>
              <a:rPr lang="en-US" sz="2200" dirty="0">
                <a:effectLst/>
                <a:latin typeface="Times New Roman" panose="02020603050405020304" pitchFamily="18" charset="0"/>
                <a:ea typeface="MS Mincho" panose="02020609040205080304" pitchFamily="49" charset="-128"/>
                <a:cs typeface="Times New Roman" panose="02020603050405020304" pitchFamily="18" charset="0"/>
                <a:hlinkClick r:id="rId4"/>
              </a:rPr>
              <a:t>https://expressjs.com/en/guide.html</a:t>
            </a:r>
            <a:r>
              <a:rPr lang="en-US" sz="2200" dirty="0">
                <a:effectLst/>
                <a:latin typeface="Times New Roman" panose="02020603050405020304" pitchFamily="18" charset="0"/>
                <a:ea typeface="MS Mincho" panose="02020609040205080304" pitchFamily="49" charset="-128"/>
                <a:cs typeface="Times New Roman" panose="02020603050405020304" pitchFamily="18" charset="0"/>
              </a:rPr>
              <a:t> </a:t>
            </a:r>
          </a:p>
          <a:p>
            <a:pPr>
              <a:lnSpc>
                <a:spcPct val="115000"/>
              </a:lnSpc>
              <a:spcAft>
                <a:spcPts val="1000"/>
              </a:spcAft>
            </a:pPr>
            <a:r>
              <a:rPr lang="en-US" sz="2200" dirty="0">
                <a:effectLst/>
                <a:latin typeface="Times New Roman" panose="02020603050405020304" pitchFamily="18" charset="0"/>
                <a:ea typeface="MS Mincho" panose="02020609040205080304" pitchFamily="49" charset="-128"/>
                <a:cs typeface="Times New Roman" panose="02020603050405020304" pitchFamily="18" charset="0"/>
              </a:rPr>
              <a:t>3. React.js Official Tutorial – </a:t>
            </a:r>
            <a:r>
              <a:rPr lang="en-US" sz="2200" dirty="0">
                <a:effectLst/>
                <a:latin typeface="Times New Roman" panose="02020603050405020304" pitchFamily="18" charset="0"/>
                <a:ea typeface="MS Mincho" panose="02020609040205080304" pitchFamily="49" charset="-128"/>
                <a:cs typeface="Times New Roman" panose="02020603050405020304" pitchFamily="18" charset="0"/>
                <a:hlinkClick r:id="rId5"/>
              </a:rPr>
              <a:t>https://react.dev/learn</a:t>
            </a:r>
            <a:r>
              <a:rPr lang="en-US" sz="2200" dirty="0">
                <a:effectLst/>
                <a:latin typeface="Times New Roman" panose="02020603050405020304" pitchFamily="18" charset="0"/>
                <a:ea typeface="MS Mincho" panose="02020609040205080304" pitchFamily="49" charset="-128"/>
                <a:cs typeface="Times New Roman" panose="02020603050405020304" pitchFamily="18" charset="0"/>
              </a:rPr>
              <a:t> </a:t>
            </a:r>
          </a:p>
          <a:p>
            <a:pPr>
              <a:lnSpc>
                <a:spcPct val="115000"/>
              </a:lnSpc>
              <a:spcAft>
                <a:spcPts val="1000"/>
              </a:spcAft>
            </a:pPr>
            <a:r>
              <a:rPr lang="en-US" sz="2200" dirty="0">
                <a:effectLst/>
                <a:latin typeface="Times New Roman" panose="02020603050405020304" pitchFamily="18" charset="0"/>
                <a:ea typeface="MS Mincho" panose="02020609040205080304" pitchFamily="49" charset="-128"/>
                <a:cs typeface="Times New Roman" panose="02020603050405020304" pitchFamily="18" charset="0"/>
              </a:rPr>
              <a:t>4. Node.js Documentation – </a:t>
            </a:r>
            <a:r>
              <a:rPr lang="en-US" sz="2200" dirty="0">
                <a:effectLst/>
                <a:latin typeface="Times New Roman" panose="02020603050405020304" pitchFamily="18" charset="0"/>
                <a:ea typeface="MS Mincho" panose="02020609040205080304" pitchFamily="49" charset="-128"/>
                <a:cs typeface="Times New Roman" panose="02020603050405020304" pitchFamily="18" charset="0"/>
                <a:hlinkClick r:id="rId6"/>
              </a:rPr>
              <a:t>https://nodejs.org/en/docs/</a:t>
            </a:r>
            <a:r>
              <a:rPr lang="en-US" sz="2200" dirty="0">
                <a:effectLst/>
                <a:latin typeface="Times New Roman" panose="02020603050405020304" pitchFamily="18" charset="0"/>
                <a:ea typeface="MS Mincho" panose="02020609040205080304" pitchFamily="49" charset="-128"/>
                <a:cs typeface="Times New Roman" panose="02020603050405020304" pitchFamily="18" charset="0"/>
              </a:rPr>
              <a:t> </a:t>
            </a:r>
          </a:p>
          <a:p>
            <a:pPr>
              <a:lnSpc>
                <a:spcPct val="115000"/>
              </a:lnSpc>
              <a:spcAft>
                <a:spcPts val="1000"/>
              </a:spcAft>
            </a:pPr>
            <a:r>
              <a:rPr lang="en-US" sz="2200" dirty="0">
                <a:effectLst/>
                <a:latin typeface="Times New Roman" panose="02020603050405020304" pitchFamily="18" charset="0"/>
                <a:ea typeface="MS Mincho" panose="02020609040205080304" pitchFamily="49" charset="-128"/>
                <a:cs typeface="Times New Roman" panose="02020603050405020304" pitchFamily="18" charset="0"/>
              </a:rPr>
              <a:t>5. JWT Authentication – </a:t>
            </a:r>
            <a:r>
              <a:rPr lang="en-US" sz="2200" dirty="0">
                <a:effectLst/>
                <a:latin typeface="Times New Roman" panose="02020603050405020304" pitchFamily="18" charset="0"/>
                <a:ea typeface="MS Mincho" panose="02020609040205080304" pitchFamily="49" charset="-128"/>
                <a:cs typeface="Times New Roman" panose="02020603050405020304" pitchFamily="18" charset="0"/>
                <a:hlinkClick r:id="rId7"/>
              </a:rPr>
              <a:t>https://jwt.io/introduction/</a:t>
            </a:r>
            <a:r>
              <a:rPr lang="en-US" sz="2200" dirty="0">
                <a:effectLst/>
                <a:latin typeface="Times New Roman" panose="02020603050405020304" pitchFamily="18" charset="0"/>
                <a:ea typeface="MS Mincho" panose="02020609040205080304" pitchFamily="49" charset="-128"/>
                <a:cs typeface="Times New Roman" panose="02020603050405020304" pitchFamily="18" charset="0"/>
              </a:rPr>
              <a:t> </a:t>
            </a:r>
          </a:p>
          <a:p>
            <a:pPr>
              <a:lnSpc>
                <a:spcPct val="115000"/>
              </a:lnSpc>
              <a:spcAft>
                <a:spcPts val="1000"/>
              </a:spcAft>
            </a:pPr>
            <a:r>
              <a:rPr lang="en-US" sz="2200" dirty="0">
                <a:effectLst/>
                <a:latin typeface="Times New Roman" panose="02020603050405020304" pitchFamily="18" charset="0"/>
                <a:ea typeface="MS Mincho" panose="02020609040205080304" pitchFamily="49" charset="-128"/>
                <a:cs typeface="Times New Roman" panose="02020603050405020304" pitchFamily="18" charset="0"/>
              </a:rPr>
              <a:t>6. </a:t>
            </a:r>
            <a:r>
              <a:rPr lang="en-US" sz="2200" dirty="0" err="1">
                <a:effectLst/>
                <a:latin typeface="Times New Roman" panose="02020603050405020304" pitchFamily="18" charset="0"/>
                <a:ea typeface="MS Mincho" panose="02020609040205080304" pitchFamily="49" charset="-128"/>
                <a:cs typeface="Times New Roman" panose="02020603050405020304" pitchFamily="18" charset="0"/>
              </a:rPr>
              <a:t>Vercel</a:t>
            </a:r>
            <a:r>
              <a:rPr lang="en-US" sz="2200" dirty="0">
                <a:effectLst/>
                <a:latin typeface="Times New Roman" panose="02020603050405020304" pitchFamily="18" charset="0"/>
                <a:ea typeface="MS Mincho" panose="02020609040205080304" pitchFamily="49" charset="-128"/>
                <a:cs typeface="Times New Roman" panose="02020603050405020304" pitchFamily="18" charset="0"/>
              </a:rPr>
              <a:t> Deployment Docs – </a:t>
            </a:r>
            <a:r>
              <a:rPr lang="en-US" sz="2200" dirty="0">
                <a:effectLst/>
                <a:latin typeface="Times New Roman" panose="02020603050405020304" pitchFamily="18" charset="0"/>
                <a:ea typeface="MS Mincho" panose="02020609040205080304" pitchFamily="49" charset="-128"/>
                <a:cs typeface="Times New Roman" panose="02020603050405020304" pitchFamily="18" charset="0"/>
                <a:hlinkClick r:id="rId8"/>
              </a:rPr>
              <a:t>https://vercel.com/docs</a:t>
            </a:r>
            <a:r>
              <a:rPr lang="en-US" sz="2200" dirty="0">
                <a:effectLst/>
                <a:latin typeface="Times New Roman" panose="02020603050405020304" pitchFamily="18" charset="0"/>
                <a:ea typeface="MS Mincho" panose="02020609040205080304" pitchFamily="49" charset="-128"/>
                <a:cs typeface="Times New Roman" panose="02020603050405020304" pitchFamily="18" charset="0"/>
              </a:rPr>
              <a:t> </a:t>
            </a:r>
          </a:p>
          <a:p>
            <a:pPr>
              <a:lnSpc>
                <a:spcPct val="115000"/>
              </a:lnSpc>
              <a:spcAft>
                <a:spcPts val="1000"/>
              </a:spcAft>
            </a:pPr>
            <a:r>
              <a:rPr lang="en-US" sz="2200" dirty="0">
                <a:effectLst/>
                <a:latin typeface="Times New Roman" panose="02020603050405020304" pitchFamily="18" charset="0"/>
                <a:ea typeface="MS Mincho" panose="02020609040205080304" pitchFamily="49" charset="-128"/>
                <a:cs typeface="Times New Roman" panose="02020603050405020304" pitchFamily="18" charset="0"/>
              </a:rPr>
              <a:t>7. Render Deployment Docs – </a:t>
            </a:r>
            <a:r>
              <a:rPr lang="en-US" sz="2200" dirty="0">
                <a:effectLst/>
                <a:latin typeface="Times New Roman" panose="02020603050405020304" pitchFamily="18" charset="0"/>
                <a:ea typeface="MS Mincho" panose="02020609040205080304" pitchFamily="49" charset="-128"/>
                <a:cs typeface="Times New Roman" panose="02020603050405020304" pitchFamily="18" charset="0"/>
                <a:hlinkClick r:id="rId9"/>
              </a:rPr>
              <a:t>https://render.com/docs</a:t>
            </a:r>
            <a:r>
              <a:rPr lang="en-US" sz="2200" dirty="0">
                <a:effectLst/>
                <a:latin typeface="Times New Roman" panose="02020603050405020304" pitchFamily="18" charset="0"/>
                <a:ea typeface="MS Mincho" panose="02020609040205080304" pitchFamily="49" charset="-128"/>
                <a:cs typeface="Times New Roman" panose="02020603050405020304" pitchFamily="18" charset="0"/>
              </a:rPr>
              <a:t> </a:t>
            </a:r>
          </a:p>
          <a:p>
            <a:pPr>
              <a:lnSpc>
                <a:spcPct val="115000"/>
              </a:lnSpc>
              <a:spcAft>
                <a:spcPts val="1000"/>
              </a:spcAft>
            </a:pPr>
            <a:r>
              <a:rPr lang="en-US" sz="2200" dirty="0">
                <a:effectLst/>
                <a:latin typeface="Times New Roman" panose="02020603050405020304" pitchFamily="18" charset="0"/>
                <a:ea typeface="MS Mincho" panose="02020609040205080304" pitchFamily="49" charset="-128"/>
                <a:cs typeface="Times New Roman" panose="02020603050405020304" pitchFamily="18" charset="0"/>
              </a:rPr>
              <a:t>8. </a:t>
            </a:r>
            <a:r>
              <a:rPr lang="en-US" sz="2200" dirty="0" err="1">
                <a:effectLst/>
                <a:latin typeface="Times New Roman" panose="02020603050405020304" pitchFamily="18" charset="0"/>
                <a:ea typeface="MS Mincho" panose="02020609040205080304" pitchFamily="49" charset="-128"/>
                <a:cs typeface="Times New Roman" panose="02020603050405020304" pitchFamily="18" charset="0"/>
              </a:rPr>
              <a:t>Multer</a:t>
            </a:r>
            <a:r>
              <a:rPr lang="en-US" sz="2200" dirty="0">
                <a:effectLst/>
                <a:latin typeface="Times New Roman" panose="02020603050405020304" pitchFamily="18" charset="0"/>
                <a:ea typeface="MS Mincho" panose="02020609040205080304" pitchFamily="49" charset="-128"/>
                <a:cs typeface="Times New Roman" panose="02020603050405020304" pitchFamily="18" charset="0"/>
              </a:rPr>
              <a:t> File Upload Middleware – </a:t>
            </a:r>
            <a:r>
              <a:rPr lang="en-US" sz="2200" dirty="0">
                <a:effectLst/>
                <a:latin typeface="Times New Roman" panose="02020603050405020304" pitchFamily="18" charset="0"/>
                <a:ea typeface="MS Mincho" panose="02020609040205080304" pitchFamily="49" charset="-128"/>
                <a:cs typeface="Times New Roman" panose="02020603050405020304" pitchFamily="18" charset="0"/>
                <a:hlinkClick r:id="rId10"/>
              </a:rPr>
              <a:t>https://www.npmjs.com/package/multer</a:t>
            </a:r>
            <a:r>
              <a:rPr lang="en-US" sz="2200" dirty="0">
                <a:effectLst/>
                <a:latin typeface="Times New Roman" panose="02020603050405020304" pitchFamily="18" charset="0"/>
                <a:ea typeface="MS Mincho" panose="02020609040205080304" pitchFamily="49" charset="-128"/>
                <a:cs typeface="Times New Roman" panose="02020603050405020304" pitchFamily="18" charset="0"/>
              </a:rPr>
              <a:t> </a:t>
            </a:r>
          </a:p>
          <a:p>
            <a:pPr>
              <a:lnSpc>
                <a:spcPct val="115000"/>
              </a:lnSpc>
              <a:spcAft>
                <a:spcPts val="1000"/>
              </a:spcAft>
            </a:pPr>
            <a:r>
              <a:rPr lang="en-US" sz="2200" dirty="0">
                <a:effectLst/>
                <a:latin typeface="Times New Roman" panose="02020603050405020304" pitchFamily="18" charset="0"/>
                <a:ea typeface="MS Mincho" panose="02020609040205080304" pitchFamily="49" charset="-128"/>
                <a:cs typeface="Times New Roman" panose="02020603050405020304" pitchFamily="18" charset="0"/>
              </a:rPr>
              <a:t>9. XLSX Library for Excel Handling –</a:t>
            </a:r>
            <a:r>
              <a:rPr lang="en-US" sz="2200" dirty="0">
                <a:effectLst/>
                <a:latin typeface="Times New Roman" panose="02020603050405020304" pitchFamily="18" charset="0"/>
                <a:ea typeface="MS Mincho" panose="02020609040205080304" pitchFamily="49" charset="-128"/>
                <a:cs typeface="Times New Roman" panose="02020603050405020304" pitchFamily="18" charset="0"/>
                <a:hlinkClick r:id="rId11"/>
              </a:rPr>
              <a:t>https://www.npmjs.com/package/xlsx</a:t>
            </a:r>
            <a:r>
              <a:rPr lang="en-US" sz="2200" dirty="0">
                <a:effectLst/>
                <a:latin typeface="Times New Roman" panose="02020603050405020304" pitchFamily="18" charset="0"/>
                <a:ea typeface="MS Mincho" panose="02020609040205080304" pitchFamily="49" charset="-128"/>
                <a:cs typeface="Times New Roman" panose="02020603050405020304" pitchFamily="18" charset="0"/>
              </a:rPr>
              <a:t> </a:t>
            </a:r>
          </a:p>
          <a:p>
            <a:pPr>
              <a:lnSpc>
                <a:spcPct val="115000"/>
              </a:lnSpc>
              <a:spcAft>
                <a:spcPts val="1000"/>
              </a:spcAft>
            </a:pPr>
            <a:r>
              <a:rPr lang="en-US" sz="2200" dirty="0">
                <a:effectLst/>
                <a:latin typeface="Times New Roman" panose="02020603050405020304" pitchFamily="18" charset="0"/>
                <a:ea typeface="MS Mincho" panose="02020609040205080304" pitchFamily="49" charset="-128"/>
                <a:cs typeface="Times New Roman" panose="02020603050405020304" pitchFamily="18" charset="0"/>
              </a:rPr>
              <a:t>10. MongoDB Atlas – </a:t>
            </a:r>
            <a:r>
              <a:rPr lang="en-US" sz="2200" dirty="0">
                <a:effectLst/>
                <a:latin typeface="Times New Roman" panose="02020603050405020304" pitchFamily="18" charset="0"/>
                <a:ea typeface="MS Mincho" panose="02020609040205080304" pitchFamily="49" charset="-128"/>
                <a:cs typeface="Times New Roman" panose="02020603050405020304" pitchFamily="18" charset="0"/>
                <a:hlinkClick r:id="rId12"/>
              </a:rPr>
              <a:t>https://www.mongodb.com/cloud/atlas</a:t>
            </a:r>
            <a:r>
              <a:rPr lang="en-US" sz="2200" dirty="0">
                <a:effectLst/>
                <a:latin typeface="Times New Roman" panose="02020603050405020304" pitchFamily="18" charset="0"/>
                <a:ea typeface="MS Mincho" panose="02020609040205080304" pitchFamily="49" charset="-128"/>
                <a:cs typeface="Times New Roman" panose="02020603050405020304" pitchFamily="18" charset="0"/>
              </a:rPr>
              <a:t> </a:t>
            </a:r>
          </a:p>
        </p:txBody>
      </p:sp>
    </p:spTree>
    <p:extLst>
      <p:ext uri="{BB962C8B-B14F-4D97-AF65-F5344CB8AC3E}">
        <p14:creationId xmlns:p14="http://schemas.microsoft.com/office/powerpoint/2010/main" val="39310006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3E4A77F-B2B3-99DC-04B7-C326DD5DC3B4}"/>
              </a:ext>
            </a:extLst>
          </p:cNvPr>
          <p:cNvSpPr txBox="1"/>
          <p:nvPr/>
        </p:nvSpPr>
        <p:spPr>
          <a:xfrm>
            <a:off x="2304008" y="2771725"/>
            <a:ext cx="6984776" cy="1107996"/>
          </a:xfrm>
          <a:prstGeom prst="rect">
            <a:avLst/>
          </a:prstGeom>
          <a:noFill/>
        </p:spPr>
        <p:txBody>
          <a:bodyPr wrap="square" rtlCol="0">
            <a:spAutoFit/>
          </a:bodyPr>
          <a:lstStyle/>
          <a:p>
            <a:r>
              <a:rPr lang="en-IN" sz="6600" dirty="0">
                <a:solidFill>
                  <a:srgbClr val="C00000"/>
                </a:solidFill>
              </a:rPr>
              <a:t>THANK YOU</a:t>
            </a:r>
          </a:p>
        </p:txBody>
      </p:sp>
    </p:spTree>
    <p:extLst>
      <p:ext uri="{BB962C8B-B14F-4D97-AF65-F5344CB8AC3E}">
        <p14:creationId xmlns:p14="http://schemas.microsoft.com/office/powerpoint/2010/main" val="2458516925"/>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a:ea typeface=""/>
        <a:cs typeface=""/>
      </a:majorFont>
      <a:minorFont>
        <a:latin typeface="Time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31025</TotalTime>
  <Words>1372</Words>
  <Application>Microsoft Office PowerPoint</Application>
  <PresentationFormat>Custom</PresentationFormat>
  <Paragraphs>95</Paragraphs>
  <Slides>23</Slides>
  <Notes>22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MS Mincho</vt:lpstr>
      <vt:lpstr>Arial</vt:lpstr>
      <vt:lpstr>Cambria</vt:lpstr>
      <vt:lpstr>Helvetica</vt:lpstr>
      <vt:lpstr>StarBats</vt:lpstr>
      <vt:lpstr>Times</vt:lpstr>
      <vt:lpstr>Times New Roman</vt:lpstr>
      <vt:lpstr>Wingdings</vt:lpstr>
      <vt:lpstr>Default Design</vt:lpstr>
      <vt:lpstr>PowerPoint Presentation</vt:lpstr>
      <vt:lpstr>PowerPoint Presentation</vt:lpstr>
      <vt:lpstr>PowerPoint Presentation</vt:lpstr>
      <vt:lpstr>Company Details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lakshya</dc:creator>
  <cp:lastModifiedBy>Lordmurder's PC</cp:lastModifiedBy>
  <cp:revision>64</cp:revision>
  <dcterms:created xsi:type="dcterms:W3CDTF">2002-10-10T16:43:00Z</dcterms:created>
  <dcterms:modified xsi:type="dcterms:W3CDTF">2025-12-01T07:57:43Z</dcterms:modified>
</cp:coreProperties>
</file>